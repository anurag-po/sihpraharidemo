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6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5D5"/>
    <a:srgbClr val="FFAFAF"/>
    <a:srgbClr val="149447"/>
    <a:srgbClr val="F26A28"/>
    <a:srgbClr val="EBEAD8"/>
    <a:srgbClr val="000000"/>
    <a:srgbClr val="9BBB59"/>
    <a:srgbClr val="39B0D4"/>
    <a:srgbClr val="727272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1"/>
            </a:pPr>
            <a:r>
              <a:rPr lang="en-US" sz="1000" b="1">
                <a:solidFill>
                  <a:srgbClr val="0B1F3A"/>
                </a:solidFill>
                <a:latin typeface="Calibri"/>
              </a:rPr>
              <a:t>Data Transmitted to Ground Control (Log Scale)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1"/>
          <c:y val="0.17"/>
          <c:w val="0.48"/>
          <c:h val="0.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 per experiment hour</c:v>
                </c:pt>
              </c:strCache>
            </c:strRef>
          </c:tx>
          <c:spPr>
            <a:solidFill>
              <a:schemeClr val="accent3">
                <a:lumMod val="75000"/>
                <a:alpha val="75000"/>
              </a:schemeClr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  <a:alpha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0-9DB7-4753-BCBC-6DEFDDCCB8A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  <a:alpha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9DB7-4753-BCBC-6DEFDDCCB8A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  <a:alpha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2-9DB7-4753-BCBC-6DEFDDCCB8A9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>
                  <a:alpha val="75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4-9DB7-4753-BCBC-6DEFDDCCB8A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B1F3A"/>
                        </a:solidFill>
                        <a:latin typeface="Calibri"/>
                      </a:rPr>
                      <a:t>~54,000 MB/hr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DB7-4753-BCBC-6DEFDDCCB8A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B1F3A"/>
                        </a:solidFill>
                        <a:latin typeface="Calibri"/>
                      </a:rPr>
                      <a:t>~1,800 MB/hr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DB7-4753-BCBC-6DEFDDCCB8A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B1F3A"/>
                        </a:solidFill>
                        <a:latin typeface="Calibri"/>
                      </a:rPr>
                      <a:t>~50 MB/hr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DB7-4753-BCBC-6DEFDDCCB8A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B1F3A"/>
                        </a:solidFill>
                        <a:latin typeface="Calibri"/>
                      </a:rPr>
                      <a:t>&lt; 0.5 MB/hr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DB7-4753-BCBC-6DEFDDCCB8A9}"/>
                </c:ext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0B1F3A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RAW 1080p VIDEO STREAMING</c:v>
                </c:pt>
                <c:pt idx="1">
                  <c:v>H.265 COMPRESSED STREAM</c:v>
                </c:pt>
                <c:pt idx="2">
                  <c:v>EVENT CLIPS ONLY (DEVIATIONS)</c:v>
                </c:pt>
                <c:pt idx="3">
                  <c:v>PRAHARI TELEMETRY (JSON-L)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54000</c:v>
                </c:pt>
                <c:pt idx="1">
                  <c:v>1800</c:v>
                </c:pt>
                <c:pt idx="2">
                  <c:v>50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B7-4753-BCBC-6DEFDDCCB8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50010001"/>
        <c:axId val="50010002"/>
      </c:barChart>
      <c:catAx>
        <c:axId val="5001000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9DDF2"/>
            </a:solidFill>
          </a:ln>
        </c:spPr>
        <c:txPr>
          <a:bodyPr/>
          <a:lstStyle/>
          <a:p>
            <a:pPr>
              <a:defRPr sz="850" b="1">
                <a:solidFill>
                  <a:srgbClr val="0B1F3A"/>
                </a:solidFill>
                <a:latin typeface="Calibri"/>
              </a:defRPr>
            </a:pPr>
            <a:endParaRPr lang="en-US"/>
          </a:p>
        </c:txPr>
        <c:crossAx val="50010002"/>
        <c:crossesAt val="0.1"/>
        <c:auto val="1"/>
        <c:lblAlgn val="ctr"/>
        <c:lblOffset val="100"/>
        <c:noMultiLvlLbl val="0"/>
      </c:catAx>
      <c:valAx>
        <c:axId val="50010002"/>
        <c:scaling>
          <c:logBase val="10"/>
          <c:orientation val="minMax"/>
          <c:max val="100000"/>
          <c:min val="0.1"/>
        </c:scaling>
        <c:delete val="0"/>
        <c:axPos val="b"/>
        <c:majorGridlines>
          <c:spPr>
            <a:ln w="9525">
              <a:solidFill>
                <a:srgbClr val="C9DDF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50" b="0"/>
                </a:pPr>
                <a:r>
                  <a:rPr lang="en-US" sz="850" b="0">
                    <a:solidFill>
                      <a:srgbClr val="4A5A72"/>
                    </a:solidFill>
                    <a:latin typeface="Calibri"/>
                  </a:rPr>
                  <a:t>MB per experiment hour (each gridline = 10×)</a:t>
                </a:r>
              </a:p>
            </c:rich>
          </c:tx>
          <c:overlay val="0"/>
        </c:title>
        <c:numFmt formatCode="[&gt;=1000]#,##0,&quot;k&quot;;[&lt;1]0.0;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 b="0">
                <a:solidFill>
                  <a:srgbClr val="4A5A72"/>
                </a:solidFill>
                <a:latin typeface="Calibri"/>
              </a:defRPr>
            </a:pPr>
            <a:endParaRPr lang="en-US"/>
          </a:p>
        </c:txPr>
        <c:crossAx val="50010001"/>
        <c:crosses val="max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 w="9525">
      <a:solidFill>
        <a:srgbClr val="C9DDF2"/>
      </a:solidFill>
    </a:ln>
  </c:spPr>
  <c:txPr>
    <a:bodyPr/>
    <a:lstStyle/>
    <a:p>
      <a:pPr>
        <a:defRPr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35856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push dir="u"/>
  </p:transition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3.png"/><Relationship Id="rId21" Type="http://schemas.openxmlformats.org/officeDocument/2006/relationships/image" Target="../media/image19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hyperlink" Target="https://github.com/anurag-po/SIHprahariDemo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2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hyperlink" Target="https://docs.google.com/document/d/1-NYBiExkd13WfE9VcMzO4fDX5rPoPGDR/edit?usp=sharing&amp;ouid=104876037954221267232&amp;rtpof=true&amp;sd=true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hyperlink" Target="https://openaccess.thecvf.com/content/CVPR2024/papers/Lee_Error_Detection_in_Egocentric_Procedural_Task_Videos_CVPR_2024_paper.pdf" TargetMode="External"/><Relationship Id="rId3" Type="http://schemas.openxmlformats.org/officeDocument/2006/relationships/hyperlink" Target="https://arxiv.org/abs/2506.02845" TargetMode="External"/><Relationship Id="rId7" Type="http://schemas.openxmlformats.org/officeDocument/2006/relationships/hyperlink" Target="https://arxiv.org/abs/2204.04746" TargetMode="External"/><Relationship Id="rId12" Type="http://schemas.openxmlformats.org/officeDocument/2006/relationships/hyperlink" Target="https://paperswithcode.com/task/mistake-detection" TargetMode="External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abs/pii/S0094576519300025" TargetMode="External"/><Relationship Id="rId11" Type="http://schemas.openxmlformats.org/officeDocument/2006/relationships/hyperlink" Target="https://arxiv.org/abs/2406.01486" TargetMode="External"/><Relationship Id="rId5" Type="http://schemas.openxmlformats.org/officeDocument/2006/relationships/hyperlink" Target="https://ntrs.nasa.gov/citations/20230000574" TargetMode="External"/><Relationship Id="rId15" Type="http://schemas.openxmlformats.org/officeDocument/2006/relationships/hyperlink" Target="https://openaccess.thecvf.com/content/CVPR2026/papers/Lee_AXG-Reasoner_Error_Detection_and_Explanation_in_Long_Task_Videos_with_CVPR_2026_paper.pdf" TargetMode="External"/><Relationship Id="rId10" Type="http://schemas.openxmlformats.org/officeDocument/2006/relationships/hyperlink" Target="https://ieeecai.org/2024/wp-content/pdfs/540900b558/540900b558.pdf" TargetMode="External"/><Relationship Id="rId4" Type="http://schemas.openxmlformats.org/officeDocument/2006/relationships/hyperlink" Target="https://www.mdpi.com/1424-8220/26/11/3406" TargetMode="External"/><Relationship Id="rId9" Type="http://schemas.openxmlformats.org/officeDocument/2006/relationships/hyperlink" Target="https://saemobilus.sae.org/papers/augmented-reality-multimodal-interfaces-astronaut-training-orbit-operations-2026-26-0796" TargetMode="External"/><Relationship Id="rId14" Type="http://schemas.openxmlformats.org/officeDocument/2006/relationships/hyperlink" Target="https://openaccess.thecvf.com/content/ICCV2025/papers/Patsch_MistSense_Versatile_Online_Detection_of_Procedural_and_Execution_Mistakes_ICCV_2025_paper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7946" y="1752600"/>
            <a:ext cx="6061646" cy="4653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SIH26174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- AI Human Activity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Recognition for On-board BAS Experiments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 – Space Technology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131893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TARS-X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Name - PRAHARI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D86EDE-898C-FC7E-D678-38EF3564E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76863" y="3387723"/>
            <a:ext cx="6048207" cy="433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– PRAHARI</a:t>
            </a:r>
          </a:p>
          <a:p>
            <a:pPr marL="0" indent="0">
              <a:buNone/>
            </a:pPr>
            <a:r>
              <a:rPr lang="en-IN" sz="1350" b="1" kern="0" spc="50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Procedural Real-time AI for Human Activity Recognition and Inspection</a:t>
            </a:r>
            <a:endParaRPr lang="en-US" sz="1350" b="1" kern="0" spc="50" dirty="0">
              <a:solidFill>
                <a:srgbClr val="0B1F3A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76864" y="3899272"/>
            <a:ext cx="56367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offline, on-board AI system that turns existing fixed-payload cameras into a real-time procedure validator</a:t>
            </a:r>
            <a:endParaRPr lang="en-US" sz="950" i="1" dirty="0">
              <a:solidFill>
                <a:srgbClr val="66708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57200" y="4096512"/>
            <a:ext cx="2651760" cy="658368"/>
          </a:xfrm>
          <a:prstGeom prst="roundRect">
            <a:avLst>
              <a:gd name="adj" fmla="val 9091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4233672"/>
            <a:ext cx="384048" cy="384048"/>
          </a:xfrm>
          <a:prstGeom prst="ellipse">
            <a:avLst/>
          </a:prstGeom>
          <a:solidFill>
            <a:srgbClr val="F79646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23" name="Image 2" descr="/home/claude/prahari/pptx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4302252"/>
            <a:ext cx="246888" cy="2468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24128" y="413308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FIXED-PAYLOAD CAMERAS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local capture at the rack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108960" y="4096512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3291840" y="4096512"/>
            <a:ext cx="2651760" cy="658368"/>
          </a:xfrm>
          <a:prstGeom prst="roundRect">
            <a:avLst>
              <a:gd name="adj" fmla="val 9091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383280" y="4233672"/>
            <a:ext cx="384048" cy="384048"/>
          </a:xfrm>
          <a:prstGeom prst="ellipse">
            <a:avLst/>
          </a:prstGeom>
          <a:solidFill>
            <a:srgbClr val="F79646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28" name="Image 3" descr="/home/claude/prahari/pptx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860" y="4302252"/>
            <a:ext cx="246888" cy="2468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858768" y="413308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PERCEPTION MODELS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Object, pose, hand-contact &amp; action detection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3108960" y="4828032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457200" y="4828032"/>
            <a:ext cx="2651760" cy="658368"/>
          </a:xfrm>
          <a:prstGeom prst="roundRect">
            <a:avLst>
              <a:gd name="adj" fmla="val 9091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48640" y="4965192"/>
            <a:ext cx="384048" cy="384048"/>
          </a:xfrm>
          <a:prstGeom prst="ellipse">
            <a:avLst/>
          </a:prstGeom>
          <a:solidFill>
            <a:srgbClr val="F79646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33" name="Image 4" descr="/home/claude/prahari/pptx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" y="5033772"/>
            <a:ext cx="246888" cy="2468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24128" y="486460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EXPERIMENT STATE ENGINE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tracker validated vs. procedure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291840" y="4828032"/>
            <a:ext cx="2651760" cy="658368"/>
          </a:xfrm>
          <a:prstGeom prst="roundRect">
            <a:avLst>
              <a:gd name="adj" fmla="val 9091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383280" y="4965192"/>
            <a:ext cx="384048" cy="384048"/>
          </a:xfrm>
          <a:prstGeom prst="ellipse">
            <a:avLst/>
          </a:prstGeom>
          <a:solidFill>
            <a:srgbClr val="F79646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37" name="Image 5" descr="/home/claude/prahari/pptx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1860" y="5033772"/>
            <a:ext cx="246888" cy="2468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858768" y="486460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VALIDATION &amp; DEVIATION CHECK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action, object, order &amp; completion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3108960" y="5559552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0" name="Shape 32"/>
          <p:cNvSpPr/>
          <p:nvPr/>
        </p:nvSpPr>
        <p:spPr>
          <a:xfrm>
            <a:off x="457200" y="5559552"/>
            <a:ext cx="2651760" cy="658368"/>
          </a:xfrm>
          <a:prstGeom prst="roundRect">
            <a:avLst>
              <a:gd name="adj" fmla="val 9091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548640" y="5696712"/>
            <a:ext cx="384048" cy="384048"/>
          </a:xfrm>
          <a:prstGeom prst="ellipse">
            <a:avLst/>
          </a:prstGeom>
          <a:solidFill>
            <a:srgbClr val="F79646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42" name="Image 6" descr="/home/claude/prahari/pptx/icons/m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" y="5765292"/>
            <a:ext cx="246888" cy="24688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24128" y="559612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VOICE + GUI GUIDANCE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Next-step prompts &amp; out-of-sequence alerts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3291840" y="5559552"/>
            <a:ext cx="2651760" cy="658368"/>
          </a:xfrm>
          <a:prstGeom prst="roundRect">
            <a:avLst>
              <a:gd name="adj" fmla="val 9091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3383280" y="5696712"/>
            <a:ext cx="384048" cy="384048"/>
          </a:xfrm>
          <a:prstGeom prst="ellipse">
            <a:avLst/>
          </a:prstGeom>
          <a:solidFill>
            <a:srgbClr val="F79646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47" name="Image 7" descr="/home/claude/prahari/pptx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1860" y="5765292"/>
            <a:ext cx="246888" cy="24688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3858768" y="559612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LOG + STREAM + STORE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report; streamed &amp; stored locally</a:t>
            </a:r>
            <a:endParaRPr lang="en-US" sz="1000" dirty="0"/>
          </a:p>
        </p:txBody>
      </p:sp>
      <p:sp>
        <p:nvSpPr>
          <p:cNvPr id="78" name="Shape 39">
            <a:extLst>
              <a:ext uri="{FF2B5EF4-FFF2-40B4-BE49-F238E27FC236}">
                <a16:creationId xmlns:a16="http://schemas.microsoft.com/office/drawing/2014/main" id="{1A099FCC-547B-BFFF-785B-009433B47F9D}"/>
              </a:ext>
            </a:extLst>
          </p:cNvPr>
          <p:cNvSpPr/>
          <p:nvPr/>
        </p:nvSpPr>
        <p:spPr>
          <a:xfrm>
            <a:off x="457200" y="960120"/>
            <a:ext cx="5486400" cy="2103120"/>
          </a:xfrm>
          <a:prstGeom prst="roundRect">
            <a:avLst>
              <a:gd name="adj" fmla="val 313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0" name="Shape 36">
            <a:extLst>
              <a:ext uri="{FF2B5EF4-FFF2-40B4-BE49-F238E27FC236}">
                <a16:creationId xmlns:a16="http://schemas.microsoft.com/office/drawing/2014/main" id="{D91C1A8F-1B54-A11E-AE76-1D0EDA3F211C}"/>
              </a:ext>
            </a:extLst>
          </p:cNvPr>
          <p:cNvSpPr/>
          <p:nvPr/>
        </p:nvSpPr>
        <p:spPr>
          <a:xfrm>
            <a:off x="4014216" y="2834640"/>
            <a:ext cx="1794510" cy="444357"/>
          </a:xfrm>
          <a:prstGeom prst="roundRect">
            <a:avLst>
              <a:gd name="adj" fmla="val 516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EAEA4A11-4270-F059-5245-A698671CDCAA}"/>
              </a:ext>
            </a:extLst>
          </p:cNvPr>
          <p:cNvSpPr txBox="1"/>
          <p:nvPr/>
        </p:nvSpPr>
        <p:spPr>
          <a:xfrm>
            <a:off x="4105656" y="2935224"/>
            <a:ext cx="1608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6A219C9-2864-BAFF-9DA7-9DE555DA5E23}"/>
              </a:ext>
            </a:extLst>
          </p:cNvPr>
          <p:cNvSpPr txBox="1"/>
          <p:nvPr/>
        </p:nvSpPr>
        <p:spPr>
          <a:xfrm>
            <a:off x="457200" y="1015672"/>
            <a:ext cx="5486400" cy="2005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1100" dirty="0"/>
              <a:t>Astronauts on missions like BAS follow multi-step science procedures using only printed instructions and memory, with no real-time ground support due to communication delay, so errors like skipped steps, wrong objects, wrong order are typically caught only during post-mission video review, after the experiment is already compromised. </a:t>
            </a:r>
          </a:p>
          <a:p>
            <a:pPr marL="171450" indent="-171450">
              <a:spcAft>
                <a:spcPts val="125"/>
              </a:spcAft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1100" dirty="0"/>
              <a:t>The problem statement calls for an AI system using existing fixed-payload cameras to recognize crew actions and validate the procedure's sequence live, on an offline, standalone onboard system. </a:t>
            </a:r>
          </a:p>
          <a:p>
            <a:pPr marL="171450" indent="-171450">
              <a:spcAft>
                <a:spcPts val="125"/>
              </a:spcAft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1100" dirty="0"/>
              <a:t>The real challenge is catching </a:t>
            </a:r>
            <a:r>
              <a:rPr lang="en-IN" sz="1100" i="1" dirty="0"/>
              <a:t>sequence</a:t>
            </a:r>
            <a:r>
              <a:rPr lang="en-IN" sz="1100" dirty="0"/>
              <a:t> deviations in real time and guiding the astronaut before a mistake becomes unrecoverable.</a:t>
            </a:r>
          </a:p>
        </p:txBody>
      </p:sp>
      <p:sp>
        <p:nvSpPr>
          <p:cNvPr id="86" name="Oval 85" descr="Your startup LOGO">
            <a:extLst>
              <a:ext uri="{FF2B5EF4-FFF2-40B4-BE49-F238E27FC236}">
                <a16:creationId xmlns:a16="http://schemas.microsoft.com/office/drawing/2014/main" id="{D55A6AE7-C175-AFB3-0D19-2B37484608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5454" y="15027"/>
            <a:ext cx="1192908" cy="73655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TARS-X</a:t>
            </a:r>
            <a:endParaRPr lang="en-IN" dirty="0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E79C7E93-C098-61A8-463A-1C363C3864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138" y="1501"/>
            <a:ext cx="1709797" cy="807334"/>
          </a:xfrm>
          <a:prstGeom prst="rect">
            <a:avLst/>
          </a:prstGeom>
        </p:spPr>
      </p:pic>
      <p:sp>
        <p:nvSpPr>
          <p:cNvPr id="3" name="Shape 39">
            <a:extLst>
              <a:ext uri="{FF2B5EF4-FFF2-40B4-BE49-F238E27FC236}">
                <a16:creationId xmlns:a16="http://schemas.microsoft.com/office/drawing/2014/main" id="{95762AEC-F39F-72ED-43F5-3DA83B04BC6E}"/>
              </a:ext>
            </a:extLst>
          </p:cNvPr>
          <p:cNvSpPr/>
          <p:nvPr/>
        </p:nvSpPr>
        <p:spPr>
          <a:xfrm>
            <a:off x="6245352" y="960120"/>
            <a:ext cx="310896" cy="310896"/>
          </a:xfrm>
          <a:prstGeom prst="ellipse">
            <a:avLst/>
          </a:prstGeom>
          <a:solidFill>
            <a:srgbClr val="149447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7" name="Image 8" descr="/home/claude/prahari/pptx/icons/bulb.png">
            <a:extLst>
              <a:ext uri="{FF2B5EF4-FFF2-40B4-BE49-F238E27FC236}">
                <a16:creationId xmlns:a16="http://schemas.microsoft.com/office/drawing/2014/main" id="{A135F377-7EF5-F9FB-7526-6401D857C7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0216" y="1014984"/>
            <a:ext cx="205191" cy="205191"/>
          </a:xfrm>
          <a:prstGeom prst="rect">
            <a:avLst/>
          </a:prstGeom>
        </p:spPr>
      </p:pic>
      <p:sp>
        <p:nvSpPr>
          <p:cNvPr id="9" name="Text 40">
            <a:extLst>
              <a:ext uri="{FF2B5EF4-FFF2-40B4-BE49-F238E27FC236}">
                <a16:creationId xmlns:a16="http://schemas.microsoft.com/office/drawing/2014/main" id="{85144B08-09C0-9C22-BA23-A75D4D47956E}"/>
              </a:ext>
            </a:extLst>
          </p:cNvPr>
          <p:cNvSpPr/>
          <p:nvPr/>
        </p:nvSpPr>
        <p:spPr>
          <a:xfrm>
            <a:off x="6665976" y="9601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400" dirty="0"/>
          </a:p>
        </p:txBody>
      </p:sp>
      <p:sp>
        <p:nvSpPr>
          <p:cNvPr id="11" name="Shape 41">
            <a:extLst>
              <a:ext uri="{FF2B5EF4-FFF2-40B4-BE49-F238E27FC236}">
                <a16:creationId xmlns:a16="http://schemas.microsoft.com/office/drawing/2014/main" id="{A0B6BB9B-872A-8800-2B93-BFC9B6CA9F52}"/>
              </a:ext>
            </a:extLst>
          </p:cNvPr>
          <p:cNvSpPr/>
          <p:nvPr/>
        </p:nvSpPr>
        <p:spPr>
          <a:xfrm>
            <a:off x="6245352" y="1371600"/>
            <a:ext cx="5486400" cy="548640"/>
          </a:xfrm>
          <a:prstGeom prst="roundRect">
            <a:avLst>
              <a:gd name="adj" fmla="val 4790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13" name="Shape 42">
            <a:extLst>
              <a:ext uri="{FF2B5EF4-FFF2-40B4-BE49-F238E27FC236}">
                <a16:creationId xmlns:a16="http://schemas.microsoft.com/office/drawing/2014/main" id="{C1AFDA83-45A2-0D87-498F-A24089BEF205}"/>
              </a:ext>
            </a:extLst>
          </p:cNvPr>
          <p:cNvSpPr/>
          <p:nvPr/>
        </p:nvSpPr>
        <p:spPr>
          <a:xfrm>
            <a:off x="6336792" y="1472184"/>
            <a:ext cx="347472" cy="347472"/>
          </a:xfrm>
          <a:prstGeom prst="ellipse">
            <a:avLst/>
          </a:prstGeom>
          <a:solidFill>
            <a:srgbClr val="149447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15" name="Image 9" descr="/home/claude/prahari/pptx/icons/cube.png">
            <a:extLst>
              <a:ext uri="{FF2B5EF4-FFF2-40B4-BE49-F238E27FC236}">
                <a16:creationId xmlns:a16="http://schemas.microsoft.com/office/drawing/2014/main" id="{3126C545-E8F5-A779-3257-18DFD671B8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536192"/>
            <a:ext cx="219456" cy="219456"/>
          </a:xfrm>
          <a:prstGeom prst="rect">
            <a:avLst/>
          </a:prstGeom>
        </p:spPr>
      </p:pic>
      <p:sp>
        <p:nvSpPr>
          <p:cNvPr id="17" name="Text 43">
            <a:extLst>
              <a:ext uri="{FF2B5EF4-FFF2-40B4-BE49-F238E27FC236}">
                <a16:creationId xmlns:a16="http://schemas.microsoft.com/office/drawing/2014/main" id="{3293B2B4-AC9E-5206-85D3-AD0568A6B984}"/>
              </a:ext>
            </a:extLst>
          </p:cNvPr>
          <p:cNvSpPr/>
          <p:nvPr/>
        </p:nvSpPr>
        <p:spPr>
          <a:xfrm>
            <a:off x="6812280" y="14356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Rack-Relative 3D HMR</a:t>
            </a:r>
            <a:endParaRPr lang="en-US" sz="1100" dirty="0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005FA7F2-E485-8222-1F0C-B2E80F29494F}"/>
              </a:ext>
            </a:extLst>
          </p:cNvPr>
          <p:cNvSpPr/>
          <p:nvPr/>
        </p:nvSpPr>
        <p:spPr>
          <a:xfrm>
            <a:off x="6812280" y="1636776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Orientation-agnostic tracking for microgravity</a:t>
            </a:r>
            <a:endParaRPr lang="en-US" sz="950" dirty="0"/>
          </a:p>
        </p:txBody>
      </p:sp>
      <p:sp>
        <p:nvSpPr>
          <p:cNvPr id="79" name="Shape 45">
            <a:extLst>
              <a:ext uri="{FF2B5EF4-FFF2-40B4-BE49-F238E27FC236}">
                <a16:creationId xmlns:a16="http://schemas.microsoft.com/office/drawing/2014/main" id="{1851D31B-277E-AC30-3900-DDA91A6A6F76}"/>
              </a:ext>
            </a:extLst>
          </p:cNvPr>
          <p:cNvSpPr/>
          <p:nvPr/>
        </p:nvSpPr>
        <p:spPr>
          <a:xfrm>
            <a:off x="6245352" y="1984248"/>
            <a:ext cx="5486400" cy="548640"/>
          </a:xfrm>
          <a:prstGeom prst="roundRect">
            <a:avLst>
              <a:gd name="adj" fmla="val 4790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83" name="Shape 46">
            <a:extLst>
              <a:ext uri="{FF2B5EF4-FFF2-40B4-BE49-F238E27FC236}">
                <a16:creationId xmlns:a16="http://schemas.microsoft.com/office/drawing/2014/main" id="{FCB3BF9D-5628-DEB6-27CC-B928A4CB4EA0}"/>
              </a:ext>
            </a:extLst>
          </p:cNvPr>
          <p:cNvSpPr/>
          <p:nvPr/>
        </p:nvSpPr>
        <p:spPr>
          <a:xfrm>
            <a:off x="6336792" y="2084832"/>
            <a:ext cx="347472" cy="347472"/>
          </a:xfrm>
          <a:prstGeom prst="ellipse">
            <a:avLst/>
          </a:prstGeom>
          <a:solidFill>
            <a:srgbClr val="149447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87" name="Image 10" descr="/home/claude/prahari/pptx/icons/alertCircle.png">
            <a:extLst>
              <a:ext uri="{FF2B5EF4-FFF2-40B4-BE49-F238E27FC236}">
                <a16:creationId xmlns:a16="http://schemas.microsoft.com/office/drawing/2014/main" id="{D43C0BAB-9E2F-E0AB-5E64-9FC2CB6D1D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148840"/>
            <a:ext cx="219456" cy="219456"/>
          </a:xfrm>
          <a:prstGeom prst="rect">
            <a:avLst/>
          </a:prstGeom>
        </p:spPr>
      </p:pic>
      <p:sp>
        <p:nvSpPr>
          <p:cNvPr id="91" name="Text 47">
            <a:extLst>
              <a:ext uri="{FF2B5EF4-FFF2-40B4-BE49-F238E27FC236}">
                <a16:creationId xmlns:a16="http://schemas.microsoft.com/office/drawing/2014/main" id="{F94C2B74-3092-5B1A-5EDB-E27EA5D7FB69}"/>
              </a:ext>
            </a:extLst>
          </p:cNvPr>
          <p:cNvSpPr/>
          <p:nvPr/>
        </p:nvSpPr>
        <p:spPr>
          <a:xfrm>
            <a:off x="6812280" y="204825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Unrecognized-Action Detection</a:t>
            </a:r>
            <a:endParaRPr lang="en-US" sz="1100" dirty="0"/>
          </a:p>
        </p:txBody>
      </p:sp>
      <p:sp>
        <p:nvSpPr>
          <p:cNvPr id="93" name="Text 48">
            <a:extLst>
              <a:ext uri="{FF2B5EF4-FFF2-40B4-BE49-F238E27FC236}">
                <a16:creationId xmlns:a16="http://schemas.microsoft.com/office/drawing/2014/main" id="{0C1E3756-8DD0-8A91-2AF6-8963D8DB337D}"/>
              </a:ext>
            </a:extLst>
          </p:cNvPr>
          <p:cNvSpPr/>
          <p:nvPr/>
        </p:nvSpPr>
        <p:spPr>
          <a:xfrm>
            <a:off x="6812280" y="224942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unknown actions instead of forcing a match</a:t>
            </a:r>
            <a:endParaRPr lang="en-US" sz="950" dirty="0"/>
          </a:p>
        </p:txBody>
      </p:sp>
      <p:sp>
        <p:nvSpPr>
          <p:cNvPr id="95" name="Shape 49">
            <a:extLst>
              <a:ext uri="{FF2B5EF4-FFF2-40B4-BE49-F238E27FC236}">
                <a16:creationId xmlns:a16="http://schemas.microsoft.com/office/drawing/2014/main" id="{8CE3838E-B2D1-05F2-5781-15F2AF7DD56C}"/>
              </a:ext>
            </a:extLst>
          </p:cNvPr>
          <p:cNvSpPr/>
          <p:nvPr/>
        </p:nvSpPr>
        <p:spPr>
          <a:xfrm>
            <a:off x="6245352" y="2596896"/>
            <a:ext cx="5486400" cy="548640"/>
          </a:xfrm>
          <a:prstGeom prst="roundRect">
            <a:avLst>
              <a:gd name="adj" fmla="val 4790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97" name="Shape 50">
            <a:extLst>
              <a:ext uri="{FF2B5EF4-FFF2-40B4-BE49-F238E27FC236}">
                <a16:creationId xmlns:a16="http://schemas.microsoft.com/office/drawing/2014/main" id="{36BE768E-DDD1-F01D-048A-34D4CAF42288}"/>
              </a:ext>
            </a:extLst>
          </p:cNvPr>
          <p:cNvSpPr/>
          <p:nvPr/>
        </p:nvSpPr>
        <p:spPr>
          <a:xfrm>
            <a:off x="6336792" y="2697480"/>
            <a:ext cx="347472" cy="347472"/>
          </a:xfrm>
          <a:prstGeom prst="ellipse">
            <a:avLst/>
          </a:prstGeom>
          <a:solidFill>
            <a:srgbClr val="149447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99" name="Image 11" descr="/home/claude/prahari/pptx/icons/clipboard.png">
            <a:extLst>
              <a:ext uri="{FF2B5EF4-FFF2-40B4-BE49-F238E27FC236}">
                <a16:creationId xmlns:a16="http://schemas.microsoft.com/office/drawing/2014/main" id="{460AB9EF-B2A4-F3C2-9D9E-BB0B2F14746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761488"/>
            <a:ext cx="219456" cy="219456"/>
          </a:xfrm>
          <a:prstGeom prst="rect">
            <a:avLst/>
          </a:prstGeom>
        </p:spPr>
      </p:pic>
      <p:sp>
        <p:nvSpPr>
          <p:cNvPr id="101" name="Text 51">
            <a:extLst>
              <a:ext uri="{FF2B5EF4-FFF2-40B4-BE49-F238E27FC236}">
                <a16:creationId xmlns:a16="http://schemas.microsoft.com/office/drawing/2014/main" id="{A6A167C4-B202-3185-FF00-FB3F3E117CCB}"/>
              </a:ext>
            </a:extLst>
          </p:cNvPr>
          <p:cNvSpPr/>
          <p:nvPr/>
        </p:nvSpPr>
        <p:spPr>
          <a:xfrm>
            <a:off x="6812280" y="266090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Physical-Outcome Verification</a:t>
            </a:r>
            <a:endParaRPr lang="en-US" sz="1100" dirty="0"/>
          </a:p>
        </p:txBody>
      </p:sp>
      <p:sp>
        <p:nvSpPr>
          <p:cNvPr id="103" name="Text 52">
            <a:extLst>
              <a:ext uri="{FF2B5EF4-FFF2-40B4-BE49-F238E27FC236}">
                <a16:creationId xmlns:a16="http://schemas.microsoft.com/office/drawing/2014/main" id="{2D45201B-478B-E762-3196-39A2823B1C78}"/>
              </a:ext>
            </a:extLst>
          </p:cNvPr>
          <p:cNvSpPr/>
          <p:nvPr/>
        </p:nvSpPr>
        <p:spPr>
          <a:xfrm>
            <a:off x="6812280" y="286207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instrument's reading actually changed</a:t>
            </a:r>
            <a:endParaRPr lang="en-US" sz="950" dirty="0"/>
          </a:p>
        </p:txBody>
      </p:sp>
      <p:sp>
        <p:nvSpPr>
          <p:cNvPr id="105" name="Shape 53">
            <a:extLst>
              <a:ext uri="{FF2B5EF4-FFF2-40B4-BE49-F238E27FC236}">
                <a16:creationId xmlns:a16="http://schemas.microsoft.com/office/drawing/2014/main" id="{70A11668-3B88-5E65-AC50-1204B3B9E6DB}"/>
              </a:ext>
            </a:extLst>
          </p:cNvPr>
          <p:cNvSpPr/>
          <p:nvPr/>
        </p:nvSpPr>
        <p:spPr>
          <a:xfrm>
            <a:off x="6245352" y="3209544"/>
            <a:ext cx="5486400" cy="548640"/>
          </a:xfrm>
          <a:prstGeom prst="roundRect">
            <a:avLst>
              <a:gd name="adj" fmla="val 4790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107" name="Shape 54">
            <a:extLst>
              <a:ext uri="{FF2B5EF4-FFF2-40B4-BE49-F238E27FC236}">
                <a16:creationId xmlns:a16="http://schemas.microsoft.com/office/drawing/2014/main" id="{929F9250-B995-0223-5202-68C214F17F3E}"/>
              </a:ext>
            </a:extLst>
          </p:cNvPr>
          <p:cNvSpPr/>
          <p:nvPr/>
        </p:nvSpPr>
        <p:spPr>
          <a:xfrm>
            <a:off x="6336792" y="3310128"/>
            <a:ext cx="347472" cy="347472"/>
          </a:xfrm>
          <a:prstGeom prst="ellipse">
            <a:avLst/>
          </a:prstGeom>
          <a:solidFill>
            <a:srgbClr val="149447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109" name="Image 12" descr="/home/claude/prahari/pptx/icons/gauge.png">
            <a:extLst>
              <a:ext uri="{FF2B5EF4-FFF2-40B4-BE49-F238E27FC236}">
                <a16:creationId xmlns:a16="http://schemas.microsoft.com/office/drawing/2014/main" id="{DFEEE43E-C9D4-C20A-F3F0-C9356272FF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374136"/>
            <a:ext cx="219456" cy="219456"/>
          </a:xfrm>
          <a:prstGeom prst="rect">
            <a:avLst/>
          </a:prstGeom>
        </p:spPr>
      </p:pic>
      <p:sp>
        <p:nvSpPr>
          <p:cNvPr id="111" name="Text 55">
            <a:extLst>
              <a:ext uri="{FF2B5EF4-FFF2-40B4-BE49-F238E27FC236}">
                <a16:creationId xmlns:a16="http://schemas.microsoft.com/office/drawing/2014/main" id="{AB63CF65-CB7C-8B0E-B4E3-D1F9AC19A0EE}"/>
              </a:ext>
            </a:extLst>
          </p:cNvPr>
          <p:cNvSpPr/>
          <p:nvPr/>
        </p:nvSpPr>
        <p:spPr>
          <a:xfrm>
            <a:off x="6812280" y="327355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Alerts</a:t>
            </a:r>
            <a:endParaRPr lang="en-US" sz="1100" dirty="0"/>
          </a:p>
        </p:txBody>
      </p:sp>
      <p:sp>
        <p:nvSpPr>
          <p:cNvPr id="113" name="Text 56">
            <a:extLst>
              <a:ext uri="{FF2B5EF4-FFF2-40B4-BE49-F238E27FC236}">
                <a16:creationId xmlns:a16="http://schemas.microsoft.com/office/drawing/2014/main" id="{6BA33A0C-DDEC-A41C-A218-FF01E11E8E8B}"/>
              </a:ext>
            </a:extLst>
          </p:cNvPr>
          <p:cNvSpPr/>
          <p:nvPr/>
        </p:nvSpPr>
        <p:spPr>
          <a:xfrm>
            <a:off x="6812280" y="34747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under low confidence or occlusion</a:t>
            </a:r>
            <a:endParaRPr lang="en-US" sz="950" dirty="0"/>
          </a:p>
        </p:txBody>
      </p:sp>
      <p:sp>
        <p:nvSpPr>
          <p:cNvPr id="115" name="Shape 57">
            <a:extLst>
              <a:ext uri="{FF2B5EF4-FFF2-40B4-BE49-F238E27FC236}">
                <a16:creationId xmlns:a16="http://schemas.microsoft.com/office/drawing/2014/main" id="{14789DDD-E40C-C7AA-B632-BDB571374784}"/>
              </a:ext>
            </a:extLst>
          </p:cNvPr>
          <p:cNvSpPr/>
          <p:nvPr/>
        </p:nvSpPr>
        <p:spPr>
          <a:xfrm>
            <a:off x="6245352" y="3822192"/>
            <a:ext cx="5486400" cy="548640"/>
          </a:xfrm>
          <a:prstGeom prst="roundRect">
            <a:avLst>
              <a:gd name="adj" fmla="val 4790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117" name="Shape 58">
            <a:extLst>
              <a:ext uri="{FF2B5EF4-FFF2-40B4-BE49-F238E27FC236}">
                <a16:creationId xmlns:a16="http://schemas.microsoft.com/office/drawing/2014/main" id="{9E9F81E9-2B37-F921-199A-626F0774E345}"/>
              </a:ext>
            </a:extLst>
          </p:cNvPr>
          <p:cNvSpPr/>
          <p:nvPr/>
        </p:nvSpPr>
        <p:spPr>
          <a:xfrm>
            <a:off x="6336792" y="3922776"/>
            <a:ext cx="347472" cy="347472"/>
          </a:xfrm>
          <a:prstGeom prst="ellipse">
            <a:avLst/>
          </a:prstGeom>
          <a:solidFill>
            <a:srgbClr val="149447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119" name="Image 13" descr="/home/claude/prahari/pptx/icons/stream.png">
            <a:extLst>
              <a:ext uri="{FF2B5EF4-FFF2-40B4-BE49-F238E27FC236}">
                <a16:creationId xmlns:a16="http://schemas.microsoft.com/office/drawing/2014/main" id="{A255C300-1FE0-361D-5320-EEAC5A121CF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986784"/>
            <a:ext cx="219456" cy="219456"/>
          </a:xfrm>
          <a:prstGeom prst="rect">
            <a:avLst/>
          </a:prstGeom>
        </p:spPr>
      </p:pic>
      <p:sp>
        <p:nvSpPr>
          <p:cNvPr id="121" name="Text 59">
            <a:extLst>
              <a:ext uri="{FF2B5EF4-FFF2-40B4-BE49-F238E27FC236}">
                <a16:creationId xmlns:a16="http://schemas.microsoft.com/office/drawing/2014/main" id="{40BE6B3A-3A6E-5957-AF08-D455BB62C529}"/>
              </a:ext>
            </a:extLst>
          </p:cNvPr>
          <p:cNvSpPr/>
          <p:nvPr/>
        </p:nvSpPr>
        <p:spPr>
          <a:xfrm>
            <a:off x="6812280" y="388620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Validation</a:t>
            </a:r>
            <a:endParaRPr lang="en-US" sz="1100" dirty="0"/>
          </a:p>
        </p:txBody>
      </p:sp>
      <p:sp>
        <p:nvSpPr>
          <p:cNvPr id="123" name="Text 60">
            <a:extLst>
              <a:ext uri="{FF2B5EF4-FFF2-40B4-BE49-F238E27FC236}">
                <a16:creationId xmlns:a16="http://schemas.microsoft.com/office/drawing/2014/main" id="{C01BE665-7F30-BC71-111C-4F3813BE0BC7}"/>
              </a:ext>
            </a:extLst>
          </p:cNvPr>
          <p:cNvSpPr/>
          <p:nvPr/>
        </p:nvSpPr>
        <p:spPr>
          <a:xfrm>
            <a:off x="6812280" y="40873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order &amp; completion, not just actions</a:t>
            </a:r>
            <a:endParaRPr lang="en-US" sz="950" dirty="0"/>
          </a:p>
        </p:txBody>
      </p:sp>
      <p:sp>
        <p:nvSpPr>
          <p:cNvPr id="125" name="Shape 57">
            <a:extLst>
              <a:ext uri="{FF2B5EF4-FFF2-40B4-BE49-F238E27FC236}">
                <a16:creationId xmlns:a16="http://schemas.microsoft.com/office/drawing/2014/main" id="{2309ECC9-FCDB-803B-F6C3-8FF66E4747DD}"/>
              </a:ext>
            </a:extLst>
          </p:cNvPr>
          <p:cNvSpPr/>
          <p:nvPr/>
        </p:nvSpPr>
        <p:spPr>
          <a:xfrm>
            <a:off x="6245352" y="4434840"/>
            <a:ext cx="5486400" cy="548640"/>
          </a:xfrm>
          <a:prstGeom prst="roundRect">
            <a:avLst>
              <a:gd name="adj" fmla="val 4790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127" name="Shape 58">
            <a:extLst>
              <a:ext uri="{FF2B5EF4-FFF2-40B4-BE49-F238E27FC236}">
                <a16:creationId xmlns:a16="http://schemas.microsoft.com/office/drawing/2014/main" id="{D0DE54A4-8425-DB8B-A22B-AADB71422739}"/>
              </a:ext>
            </a:extLst>
          </p:cNvPr>
          <p:cNvSpPr/>
          <p:nvPr/>
        </p:nvSpPr>
        <p:spPr>
          <a:xfrm>
            <a:off x="6336792" y="4535424"/>
            <a:ext cx="347472" cy="347472"/>
          </a:xfrm>
          <a:prstGeom prst="ellipse">
            <a:avLst/>
          </a:prstGeom>
          <a:solidFill>
            <a:srgbClr val="F79646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sp>
        <p:nvSpPr>
          <p:cNvPr id="129" name="Text 59">
            <a:extLst>
              <a:ext uri="{FF2B5EF4-FFF2-40B4-BE49-F238E27FC236}">
                <a16:creationId xmlns:a16="http://schemas.microsoft.com/office/drawing/2014/main" id="{CDBD1017-4DCE-8C53-B305-12AEA0739FC0}"/>
              </a:ext>
            </a:extLst>
          </p:cNvPr>
          <p:cNvSpPr/>
          <p:nvPr/>
        </p:nvSpPr>
        <p:spPr>
          <a:xfrm>
            <a:off x="6812280" y="44988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Spatial Guidance Overlay</a:t>
            </a:r>
            <a:endParaRPr lang="en-US" sz="1100" dirty="0"/>
          </a:p>
        </p:txBody>
      </p:sp>
      <p:sp>
        <p:nvSpPr>
          <p:cNvPr id="131" name="Text 60">
            <a:extLst>
              <a:ext uri="{FF2B5EF4-FFF2-40B4-BE49-F238E27FC236}">
                <a16:creationId xmlns:a16="http://schemas.microsoft.com/office/drawing/2014/main" id="{0C618CFD-953C-3668-0F41-5F60474BD1C9}"/>
              </a:ext>
            </a:extLst>
          </p:cNvPr>
          <p:cNvSpPr/>
          <p:nvPr/>
        </p:nvSpPr>
        <p:spPr>
          <a:xfrm>
            <a:off x="6812280" y="4749176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right object, arrows to the target port, shows the next step in place</a:t>
            </a:r>
            <a:endParaRPr lang="en-US" sz="950" dirty="0"/>
          </a:p>
        </p:txBody>
      </p:sp>
      <p:pic>
        <p:nvPicPr>
          <p:cNvPr id="133" name="Picture 132" descr="icon_ar.png">
            <a:extLst>
              <a:ext uri="{FF2B5EF4-FFF2-40B4-BE49-F238E27FC236}">
                <a16:creationId xmlns:a16="http://schemas.microsoft.com/office/drawing/2014/main" id="{FB939986-92D7-E2A8-8537-B6B651D0F6A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599432"/>
            <a:ext cx="219456" cy="219456"/>
          </a:xfrm>
          <a:prstGeom prst="rect">
            <a:avLst/>
          </a:prstGeom>
        </p:spPr>
      </p:pic>
      <p:sp>
        <p:nvSpPr>
          <p:cNvPr id="137" name="Shape 57">
            <a:extLst>
              <a:ext uri="{FF2B5EF4-FFF2-40B4-BE49-F238E27FC236}">
                <a16:creationId xmlns:a16="http://schemas.microsoft.com/office/drawing/2014/main" id="{1B1A8902-3CBA-4612-8C54-C1E6195D6C68}"/>
              </a:ext>
            </a:extLst>
          </p:cNvPr>
          <p:cNvSpPr/>
          <p:nvPr/>
        </p:nvSpPr>
        <p:spPr>
          <a:xfrm>
            <a:off x="6245352" y="5047488"/>
            <a:ext cx="5486400" cy="548640"/>
          </a:xfrm>
          <a:prstGeom prst="roundRect">
            <a:avLst>
              <a:gd name="adj" fmla="val 4790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139" name="Shape 58">
            <a:extLst>
              <a:ext uri="{FF2B5EF4-FFF2-40B4-BE49-F238E27FC236}">
                <a16:creationId xmlns:a16="http://schemas.microsoft.com/office/drawing/2014/main" id="{9FAF56E0-B61E-E9D6-787F-03CB6286F192}"/>
              </a:ext>
            </a:extLst>
          </p:cNvPr>
          <p:cNvSpPr/>
          <p:nvPr/>
        </p:nvSpPr>
        <p:spPr>
          <a:xfrm>
            <a:off x="6336792" y="5148072"/>
            <a:ext cx="347472" cy="347472"/>
          </a:xfrm>
          <a:prstGeom prst="ellipse">
            <a:avLst/>
          </a:prstGeom>
          <a:solidFill>
            <a:srgbClr val="F79646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sp>
        <p:nvSpPr>
          <p:cNvPr id="141" name="Text 59">
            <a:extLst>
              <a:ext uri="{FF2B5EF4-FFF2-40B4-BE49-F238E27FC236}">
                <a16:creationId xmlns:a16="http://schemas.microsoft.com/office/drawing/2014/main" id="{1441A139-E80F-DE1A-B6A1-C5E389B0FB76}"/>
              </a:ext>
            </a:extLst>
          </p:cNvPr>
          <p:cNvSpPr/>
          <p:nvPr/>
        </p:nvSpPr>
        <p:spPr>
          <a:xfrm>
            <a:off x="6812280" y="51114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Explanations</a:t>
            </a:r>
            <a:endParaRPr lang="en-US" sz="1100" dirty="0"/>
          </a:p>
        </p:txBody>
      </p:sp>
      <p:sp>
        <p:nvSpPr>
          <p:cNvPr id="143" name="Text 60">
            <a:extLst>
              <a:ext uri="{FF2B5EF4-FFF2-40B4-BE49-F238E27FC236}">
                <a16:creationId xmlns:a16="http://schemas.microsoft.com/office/drawing/2014/main" id="{0D4B153C-00E0-76F9-6D4B-812C39186A76}"/>
              </a:ext>
            </a:extLst>
          </p:cNvPr>
          <p:cNvSpPr/>
          <p:nvPr/>
        </p:nvSpPr>
        <p:spPr>
          <a:xfrm>
            <a:off x="6812280" y="536182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deviation, shows what should have happened: expected action, object &amp; step</a:t>
            </a:r>
            <a:endParaRPr lang="en-US" sz="950" dirty="0"/>
          </a:p>
        </p:txBody>
      </p:sp>
      <p:pic>
        <p:nvPicPr>
          <p:cNvPr id="145" name="Picture 144" descr="icon_cf.png">
            <a:extLst>
              <a:ext uri="{FF2B5EF4-FFF2-40B4-BE49-F238E27FC236}">
                <a16:creationId xmlns:a16="http://schemas.microsoft.com/office/drawing/2014/main" id="{BC1C2EB2-3054-B413-5DB6-D501D2DB81A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5212080"/>
            <a:ext cx="219456" cy="219456"/>
          </a:xfrm>
          <a:prstGeom prst="rect">
            <a:avLst/>
          </a:prstGeom>
        </p:spPr>
      </p:pic>
      <p:sp>
        <p:nvSpPr>
          <p:cNvPr id="149" name="Shape 57">
            <a:extLst>
              <a:ext uri="{FF2B5EF4-FFF2-40B4-BE49-F238E27FC236}">
                <a16:creationId xmlns:a16="http://schemas.microsoft.com/office/drawing/2014/main" id="{5FD97BD7-6D1C-52EE-70AF-D144B2DAD383}"/>
              </a:ext>
            </a:extLst>
          </p:cNvPr>
          <p:cNvSpPr/>
          <p:nvPr/>
        </p:nvSpPr>
        <p:spPr>
          <a:xfrm>
            <a:off x="6245352" y="5660136"/>
            <a:ext cx="5486400" cy="548640"/>
          </a:xfrm>
          <a:prstGeom prst="roundRect">
            <a:avLst>
              <a:gd name="adj" fmla="val 4790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</p:sp>
      <p:sp>
        <p:nvSpPr>
          <p:cNvPr id="151" name="Shape 58">
            <a:extLst>
              <a:ext uri="{FF2B5EF4-FFF2-40B4-BE49-F238E27FC236}">
                <a16:creationId xmlns:a16="http://schemas.microsoft.com/office/drawing/2014/main" id="{5EE288E2-3A10-6857-B1EC-69B85830653B}"/>
              </a:ext>
            </a:extLst>
          </p:cNvPr>
          <p:cNvSpPr/>
          <p:nvPr/>
        </p:nvSpPr>
        <p:spPr>
          <a:xfrm>
            <a:off x="6336792" y="5760720"/>
            <a:ext cx="347472" cy="347472"/>
          </a:xfrm>
          <a:prstGeom prst="ellipse">
            <a:avLst/>
          </a:prstGeom>
          <a:solidFill>
            <a:srgbClr val="F79646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sp>
        <p:nvSpPr>
          <p:cNvPr id="153" name="Text 59">
            <a:extLst>
              <a:ext uri="{FF2B5EF4-FFF2-40B4-BE49-F238E27FC236}">
                <a16:creationId xmlns:a16="http://schemas.microsoft.com/office/drawing/2014/main" id="{817FA160-1A73-85CC-EA88-B246D8484D72}"/>
              </a:ext>
            </a:extLst>
          </p:cNvPr>
          <p:cNvSpPr/>
          <p:nvPr/>
        </p:nvSpPr>
        <p:spPr>
          <a:xfrm>
            <a:off x="6812280" y="57241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Operating Modes</a:t>
            </a:r>
            <a:endParaRPr lang="en-US" sz="1100" dirty="0"/>
          </a:p>
        </p:txBody>
      </p:sp>
      <p:sp>
        <p:nvSpPr>
          <p:cNvPr id="155" name="Text 60">
            <a:extLst>
              <a:ext uri="{FF2B5EF4-FFF2-40B4-BE49-F238E27FC236}">
                <a16:creationId xmlns:a16="http://schemas.microsoft.com/office/drawing/2014/main" id="{B0A4A4E6-9DD6-3CEB-2C27-9ECA948164B3}"/>
              </a:ext>
            </a:extLst>
          </p:cNvPr>
          <p:cNvSpPr/>
          <p:nvPr/>
        </p:nvSpPr>
        <p:spPr>
          <a:xfrm>
            <a:off x="6812280" y="597447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auto-validate  |  Medium: confirm or wait  |  Low: abstain, "unable to verify"</a:t>
            </a:r>
            <a:endParaRPr lang="en-US" sz="950" dirty="0"/>
          </a:p>
        </p:txBody>
      </p:sp>
      <p:pic>
        <p:nvPicPr>
          <p:cNvPr id="157" name="Picture 156" descr="icon_unc.png">
            <a:extLst>
              <a:ext uri="{FF2B5EF4-FFF2-40B4-BE49-F238E27FC236}">
                <a16:creationId xmlns:a16="http://schemas.microsoft.com/office/drawing/2014/main" id="{64A8DB3E-CA70-9888-0621-01B408F634C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5824728"/>
            <a:ext cx="219456" cy="219456"/>
          </a:xfrm>
          <a:prstGeom prst="rect">
            <a:avLst/>
          </a:prstGeom>
        </p:spPr>
      </p:pic>
      <p:sp>
        <p:nvSpPr>
          <p:cNvPr id="200" name="LinkCardVideo"/>
          <p:cNvSpPr/>
          <p:nvPr/>
        </p:nvSpPr>
        <p:spPr>
          <a:xfrm>
            <a:off x="2109000" y="140000"/>
            <a:ext cx="3550000" cy="548640"/>
          </a:xfrm>
          <a:prstGeom prst="roundRect">
            <a:avLst>
              <a:gd name="adj" fmla="val 8000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 wrap="square" lIns="566928" tIns="0" rIns="9144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0B1F3A"/>
                </a:solidFill>
                <a:latin typeface="Calibri"/>
                <a:cs typeface="Calibri"/>
              </a:rPr>
              <a:t>YouTube Demo Video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950" b="0" i="1" dirty="0">
                <a:solidFill>
                  <a:srgbClr val="667085"/>
                </a:solidFill>
                <a:latin typeface="Calibri"/>
                <a:cs typeface="Calibri"/>
              </a:rPr>
              <a:t>Paste link here</a:t>
            </a:r>
          </a:p>
        </p:txBody>
      </p:sp>
      <p:sp>
        <p:nvSpPr>
          <p:cNvPr id="201" name="LinkCardVideoCircle"/>
          <p:cNvSpPr/>
          <p:nvPr/>
        </p:nvSpPr>
        <p:spPr>
          <a:xfrm>
            <a:off x="2200440" y="240584"/>
            <a:ext cx="347472" cy="347472"/>
          </a:xfrm>
          <a:prstGeom prst="ellipse">
            <a:avLst/>
          </a:prstGeom>
          <a:solidFill>
            <a:srgbClr val="F79646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202" name="LinkCardVideoIcon" descr="Play 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64448" y="304592"/>
            <a:ext cx="219456" cy="219456"/>
          </a:xfrm>
          <a:prstGeom prst="rect">
            <a:avLst/>
          </a:prstGeom>
        </p:spPr>
      </p:pic>
      <p:sp>
        <p:nvSpPr>
          <p:cNvPr id="203" name="LinkCardPrototype"/>
          <p:cNvSpPr/>
          <p:nvPr/>
        </p:nvSpPr>
        <p:spPr>
          <a:xfrm>
            <a:off x="5909000" y="140000"/>
            <a:ext cx="3550000" cy="548640"/>
          </a:xfrm>
          <a:prstGeom prst="roundRect">
            <a:avLst>
              <a:gd name="adj" fmla="val 8000"/>
            </a:avLst>
          </a:prstGeom>
          <a:solidFill>
            <a:srgbClr val="FCFCFD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 wrap="square" lIns="566928" tIns="0" rIns="9144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0B1F3A"/>
                </a:solidFill>
                <a:latin typeface="Calibri"/>
                <a:cs typeface="Calibri"/>
              </a:rPr>
              <a:t>Prototype Link</a:t>
            </a:r>
          </a:p>
          <a:p>
            <a:pPr>
              <a:spcBef>
                <a:spcPts val="200"/>
              </a:spcBef>
            </a:pPr>
            <a:r>
              <a:rPr lang="en-US" sz="950" i="1" dirty="0">
                <a:latin typeface="Calibri"/>
                <a:cs typeface="Calibri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https://github.com/anurag-po/SIHprahariDemo</a:t>
            </a:r>
            <a:endParaRPr lang="en-US" sz="950" b="0" i="1" dirty="0">
              <a:latin typeface="Calibri"/>
              <a:cs typeface="Calibri"/>
            </a:endParaRPr>
          </a:p>
        </p:txBody>
      </p:sp>
      <p:sp>
        <p:nvSpPr>
          <p:cNvPr id="204" name="LinkCardPrototypeCircle"/>
          <p:cNvSpPr/>
          <p:nvPr/>
        </p:nvSpPr>
        <p:spPr>
          <a:xfrm>
            <a:off x="6000440" y="240584"/>
            <a:ext cx="347472" cy="347472"/>
          </a:xfrm>
          <a:prstGeom prst="ellipse">
            <a:avLst/>
          </a:prstGeom>
          <a:solidFill>
            <a:srgbClr val="149447"/>
          </a:solidFill>
          <a:ln/>
          <a:effectLst>
            <a:outerShdw blurRad="76200" dist="25400" dir="5400000" algn="bl" rotWithShape="0">
              <a:srgbClr val="1F2A44">
                <a:alpha val="18000"/>
              </a:srgbClr>
            </a:outerShdw>
          </a:effectLst>
        </p:spPr>
      </p:sp>
      <p:pic>
        <p:nvPicPr>
          <p:cNvPr id="205" name="LinkCardPrototypeIcon" descr="Link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64448" y="304592"/>
            <a:ext cx="219456" cy="219456"/>
          </a:xfrm>
          <a:prstGeom prst="rect">
            <a:avLst/>
          </a:prstGeom>
        </p:spPr>
      </p:pic>
      <p:sp>
        <p:nvSpPr>
          <p:cNvPr id="2" name="Rounded Rectangle 95">
            <a:extLst>
              <a:ext uri="{FF2B5EF4-FFF2-40B4-BE49-F238E27FC236}">
                <a16:creationId xmlns:a16="http://schemas.microsoft.com/office/drawing/2014/main" id="{7E3781B4-16D6-7380-E759-BC5DBE127600}"/>
              </a:ext>
            </a:extLst>
          </p:cNvPr>
          <p:cNvSpPr/>
          <p:nvPr/>
        </p:nvSpPr>
        <p:spPr>
          <a:xfrm>
            <a:off x="10386207" y="4491081"/>
            <a:ext cx="1325880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ADDED IMPLEMENTATION</a:t>
            </a:r>
          </a:p>
        </p:txBody>
      </p:sp>
      <p:sp>
        <p:nvSpPr>
          <p:cNvPr id="4" name="Rounded Rectangle 101">
            <a:extLst>
              <a:ext uri="{FF2B5EF4-FFF2-40B4-BE49-F238E27FC236}">
                <a16:creationId xmlns:a16="http://schemas.microsoft.com/office/drawing/2014/main" id="{E5EC2DA0-5BC2-D7CD-D061-858C78CE3C8A}"/>
              </a:ext>
            </a:extLst>
          </p:cNvPr>
          <p:cNvSpPr/>
          <p:nvPr/>
        </p:nvSpPr>
        <p:spPr>
          <a:xfrm>
            <a:off x="10386207" y="5103729"/>
            <a:ext cx="1325880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ADDED IMPLEMENTATION</a:t>
            </a:r>
          </a:p>
        </p:txBody>
      </p:sp>
      <p:sp>
        <p:nvSpPr>
          <p:cNvPr id="8" name="Rounded Rectangle 107">
            <a:extLst>
              <a:ext uri="{FF2B5EF4-FFF2-40B4-BE49-F238E27FC236}">
                <a16:creationId xmlns:a16="http://schemas.microsoft.com/office/drawing/2014/main" id="{04DA60C8-0DE5-24EF-ABCF-48FE38022C2E}"/>
              </a:ext>
            </a:extLst>
          </p:cNvPr>
          <p:cNvSpPr/>
          <p:nvPr/>
        </p:nvSpPr>
        <p:spPr>
          <a:xfrm>
            <a:off x="10386207" y="5716377"/>
            <a:ext cx="1325880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ADDED IMPLEMENTATION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9E8827B3-0C59-DC99-6D3E-C1C52292D0EE}"/>
              </a:ext>
            </a:extLst>
          </p:cNvPr>
          <p:cNvSpPr txBox="1">
            <a:spLocks/>
          </p:cNvSpPr>
          <p:nvPr/>
        </p:nvSpPr>
        <p:spPr>
          <a:xfrm>
            <a:off x="8737600" y="6405513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r"/>
            <a:fld id="{677C3CE7-23F7-4828-823C-E0205DF2CF97}" type="slidenum">
              <a:rPr lang="en-US" sz="1200" b="1" smtClean="0">
                <a:solidFill>
                  <a:schemeClr val="bg1"/>
                </a:solidFill>
              </a:rPr>
              <a:pPr algn="r"/>
              <a:t>2</a:t>
            </a:fld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456734-9F6F-2BB7-8A4D-0AF5338A4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309" y="0"/>
            <a:ext cx="2571882" cy="8255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C2A265-031F-83FF-E552-51DB3FEE5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138" y="1501"/>
            <a:ext cx="1709797" cy="807334"/>
          </a:xfrm>
          <a:prstGeom prst="rect">
            <a:avLst/>
          </a:prstGeom>
        </p:spPr>
      </p:pic>
      <p:sp>
        <p:nvSpPr>
          <p:cNvPr id="41" name="Text 7">
            <a:extLst>
              <a:ext uri="{FF2B5EF4-FFF2-40B4-BE49-F238E27FC236}">
                <a16:creationId xmlns:a16="http://schemas.microsoft.com/office/drawing/2014/main" id="{E71F79E0-FA84-3CB8-8CCA-B2EF6B1A7B6D}"/>
              </a:ext>
            </a:extLst>
          </p:cNvPr>
          <p:cNvSpPr txBox="1"/>
          <p:nvPr/>
        </p:nvSpPr>
        <p:spPr>
          <a:xfrm>
            <a:off x="365760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1CD1BD70-35AB-A484-B3B1-382299DF5D30}"/>
              </a:ext>
            </a:extLst>
          </p:cNvPr>
          <p:cNvSpPr txBox="1"/>
          <p:nvPr/>
        </p:nvSpPr>
        <p:spPr>
          <a:xfrm>
            <a:off x="365760" y="14630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PERCEPTION</a:t>
            </a:r>
            <a:endParaRPr lang="en-US" sz="1400" dirty="0"/>
          </a:p>
        </p:txBody>
      </p:sp>
      <p:pic>
        <p:nvPicPr>
          <p:cNvPr id="45" name="Image 0" descr="icons/python.png">
            <a:extLst>
              <a:ext uri="{FF2B5EF4-FFF2-40B4-BE49-F238E27FC236}">
                <a16:creationId xmlns:a16="http://schemas.microsoft.com/office/drawing/2014/main" id="{2AD4633B-3BBD-05BF-9DB3-5FD031037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81" y="1755648"/>
            <a:ext cx="566928" cy="566928"/>
          </a:xfrm>
          <a:prstGeom prst="rect">
            <a:avLst/>
          </a:prstGeom>
        </p:spPr>
      </p:pic>
      <p:sp>
        <p:nvSpPr>
          <p:cNvPr id="47" name="Text 9">
            <a:extLst>
              <a:ext uri="{FF2B5EF4-FFF2-40B4-BE49-F238E27FC236}">
                <a16:creationId xmlns:a16="http://schemas.microsoft.com/office/drawing/2014/main" id="{08E7A6D3-5E8D-653F-1C12-61E4930A6FEE}"/>
              </a:ext>
            </a:extLst>
          </p:cNvPr>
          <p:cNvSpPr txBox="1"/>
          <p:nvPr/>
        </p:nvSpPr>
        <p:spPr>
          <a:xfrm>
            <a:off x="320040" y="2368296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pic>
        <p:nvPicPr>
          <p:cNvPr id="49" name="Image 1" descr="icons/pytorch.png">
            <a:extLst>
              <a:ext uri="{FF2B5EF4-FFF2-40B4-BE49-F238E27FC236}">
                <a16:creationId xmlns:a16="http://schemas.microsoft.com/office/drawing/2014/main" id="{7F35E42A-EA6C-911F-D431-EB5926FE77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751" y="1755648"/>
            <a:ext cx="566928" cy="566928"/>
          </a:xfrm>
          <a:prstGeom prst="rect">
            <a:avLst/>
          </a:prstGeom>
        </p:spPr>
      </p:pic>
      <p:sp>
        <p:nvSpPr>
          <p:cNvPr id="51" name="Text 10">
            <a:extLst>
              <a:ext uri="{FF2B5EF4-FFF2-40B4-BE49-F238E27FC236}">
                <a16:creationId xmlns:a16="http://schemas.microsoft.com/office/drawing/2014/main" id="{5763532C-7489-D847-B433-3FAC0B1075BC}"/>
              </a:ext>
            </a:extLst>
          </p:cNvPr>
          <p:cNvSpPr txBox="1"/>
          <p:nvPr/>
        </p:nvSpPr>
        <p:spPr>
          <a:xfrm>
            <a:off x="1223010" y="2368296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pic>
        <p:nvPicPr>
          <p:cNvPr id="53" name="Image 2" descr="icons/opencv.png">
            <a:extLst>
              <a:ext uri="{FF2B5EF4-FFF2-40B4-BE49-F238E27FC236}">
                <a16:creationId xmlns:a16="http://schemas.microsoft.com/office/drawing/2014/main" id="{E42D80CD-4DA1-03D4-EE2F-6796164042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9721" y="1755648"/>
            <a:ext cx="566928" cy="566928"/>
          </a:xfrm>
          <a:prstGeom prst="rect">
            <a:avLst/>
          </a:prstGeom>
        </p:spPr>
      </p:pic>
      <p:sp>
        <p:nvSpPr>
          <p:cNvPr id="55" name="Text 11">
            <a:extLst>
              <a:ext uri="{FF2B5EF4-FFF2-40B4-BE49-F238E27FC236}">
                <a16:creationId xmlns:a16="http://schemas.microsoft.com/office/drawing/2014/main" id="{01910FF7-05A1-F87C-EC4A-E2C87D4E8E64}"/>
              </a:ext>
            </a:extLst>
          </p:cNvPr>
          <p:cNvSpPr txBox="1"/>
          <p:nvPr/>
        </p:nvSpPr>
        <p:spPr>
          <a:xfrm>
            <a:off x="2125980" y="2368296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pic>
        <p:nvPicPr>
          <p:cNvPr id="57" name="Image 3" descr="icons/onnx.png">
            <a:extLst>
              <a:ext uri="{FF2B5EF4-FFF2-40B4-BE49-F238E27FC236}">
                <a16:creationId xmlns:a16="http://schemas.microsoft.com/office/drawing/2014/main" id="{7B69988A-0337-AD46-8FE8-213DEDC9F1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2691" y="1755648"/>
            <a:ext cx="566928" cy="566928"/>
          </a:xfrm>
          <a:prstGeom prst="rect">
            <a:avLst/>
          </a:prstGeom>
        </p:spPr>
      </p:pic>
      <p:sp>
        <p:nvSpPr>
          <p:cNvPr id="59" name="Text 12">
            <a:extLst>
              <a:ext uri="{FF2B5EF4-FFF2-40B4-BE49-F238E27FC236}">
                <a16:creationId xmlns:a16="http://schemas.microsoft.com/office/drawing/2014/main" id="{AC56E44E-2FC1-5AA1-CD58-4D0569D47729}"/>
              </a:ext>
            </a:extLst>
          </p:cNvPr>
          <p:cNvSpPr txBox="1"/>
          <p:nvPr/>
        </p:nvSpPr>
        <p:spPr>
          <a:xfrm>
            <a:off x="3028950" y="2368296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100" dirty="0"/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6682BBD3-D340-CB01-946C-CE0BC02BB11C}"/>
              </a:ext>
            </a:extLst>
          </p:cNvPr>
          <p:cNvSpPr txBox="1"/>
          <p:nvPr/>
        </p:nvSpPr>
        <p:spPr>
          <a:xfrm>
            <a:off x="365760" y="29220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3B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DATA</a:t>
            </a:r>
            <a:endParaRPr lang="en-US" sz="1400" dirty="0"/>
          </a:p>
        </p:txBody>
      </p:sp>
      <p:pic>
        <p:nvPicPr>
          <p:cNvPr id="63" name="Image 4" descr="icons/cpp.png">
            <a:extLst>
              <a:ext uri="{FF2B5EF4-FFF2-40B4-BE49-F238E27FC236}">
                <a16:creationId xmlns:a16="http://schemas.microsoft.com/office/drawing/2014/main" id="{E4A35FCD-D5CC-7D91-EB18-27602C47C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781" y="3214624"/>
            <a:ext cx="566928" cy="566928"/>
          </a:xfrm>
          <a:prstGeom prst="rect">
            <a:avLst/>
          </a:prstGeom>
        </p:spPr>
      </p:pic>
      <p:sp>
        <p:nvSpPr>
          <p:cNvPr id="65" name="Text 14">
            <a:extLst>
              <a:ext uri="{FF2B5EF4-FFF2-40B4-BE49-F238E27FC236}">
                <a16:creationId xmlns:a16="http://schemas.microsoft.com/office/drawing/2014/main" id="{5530C57C-EDDA-A9C3-5D34-7D99F7387329}"/>
              </a:ext>
            </a:extLst>
          </p:cNvPr>
          <p:cNvSpPr txBox="1"/>
          <p:nvPr/>
        </p:nvSpPr>
        <p:spPr>
          <a:xfrm>
            <a:off x="320040" y="3827272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pic>
        <p:nvPicPr>
          <p:cNvPr id="67" name="Image 5" descr="icons/go.png">
            <a:extLst>
              <a:ext uri="{FF2B5EF4-FFF2-40B4-BE49-F238E27FC236}">
                <a16:creationId xmlns:a16="http://schemas.microsoft.com/office/drawing/2014/main" id="{F13A0660-FB48-A458-2F6D-EC14CDFCED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6751" y="3214624"/>
            <a:ext cx="566928" cy="566928"/>
          </a:xfrm>
          <a:prstGeom prst="rect">
            <a:avLst/>
          </a:prstGeom>
        </p:spPr>
      </p:pic>
      <p:sp>
        <p:nvSpPr>
          <p:cNvPr id="69" name="Text 15">
            <a:extLst>
              <a:ext uri="{FF2B5EF4-FFF2-40B4-BE49-F238E27FC236}">
                <a16:creationId xmlns:a16="http://schemas.microsoft.com/office/drawing/2014/main" id="{69C10A45-4B09-4C70-4F56-FA7714F038DC}"/>
              </a:ext>
            </a:extLst>
          </p:cNvPr>
          <p:cNvSpPr txBox="1"/>
          <p:nvPr/>
        </p:nvSpPr>
        <p:spPr>
          <a:xfrm>
            <a:off x="1223010" y="3827272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100" dirty="0"/>
          </a:p>
        </p:txBody>
      </p:sp>
      <p:pic>
        <p:nvPicPr>
          <p:cNvPr id="71" name="Image 6" descr="icons/sqlite.png">
            <a:extLst>
              <a:ext uri="{FF2B5EF4-FFF2-40B4-BE49-F238E27FC236}">
                <a16:creationId xmlns:a16="http://schemas.microsoft.com/office/drawing/2014/main" id="{3AF072EB-AB66-B171-CE8F-5B00186662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9721" y="3214624"/>
            <a:ext cx="566928" cy="566928"/>
          </a:xfrm>
          <a:prstGeom prst="rect">
            <a:avLst/>
          </a:prstGeom>
        </p:spPr>
      </p:pic>
      <p:sp>
        <p:nvSpPr>
          <p:cNvPr id="73" name="Text 16">
            <a:extLst>
              <a:ext uri="{FF2B5EF4-FFF2-40B4-BE49-F238E27FC236}">
                <a16:creationId xmlns:a16="http://schemas.microsoft.com/office/drawing/2014/main" id="{A093C493-EA76-AB86-F9E5-5A1C9EA291C5}"/>
              </a:ext>
            </a:extLst>
          </p:cNvPr>
          <p:cNvSpPr txBox="1"/>
          <p:nvPr/>
        </p:nvSpPr>
        <p:spPr>
          <a:xfrm>
            <a:off x="2125980" y="3827272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pic>
        <p:nvPicPr>
          <p:cNvPr id="75" name="Image 7" descr="icons/jsonlines.png">
            <a:extLst>
              <a:ext uri="{FF2B5EF4-FFF2-40B4-BE49-F238E27FC236}">
                <a16:creationId xmlns:a16="http://schemas.microsoft.com/office/drawing/2014/main" id="{CB5C5D89-6401-D4FF-14D8-47D5B401AA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2691" y="3214624"/>
            <a:ext cx="566928" cy="566928"/>
          </a:xfrm>
          <a:prstGeom prst="rect">
            <a:avLst/>
          </a:prstGeom>
        </p:spPr>
      </p:pic>
      <p:sp>
        <p:nvSpPr>
          <p:cNvPr id="77" name="Text 17">
            <a:extLst>
              <a:ext uri="{FF2B5EF4-FFF2-40B4-BE49-F238E27FC236}">
                <a16:creationId xmlns:a16="http://schemas.microsoft.com/office/drawing/2014/main" id="{4B329035-8023-7D90-F493-1D5DEC2B7C72}"/>
              </a:ext>
            </a:extLst>
          </p:cNvPr>
          <p:cNvSpPr txBox="1"/>
          <p:nvPr/>
        </p:nvSpPr>
        <p:spPr>
          <a:xfrm>
            <a:off x="3028950" y="3827272"/>
            <a:ext cx="99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JSON-Lines Logs</a:t>
            </a:r>
            <a:endParaRPr lang="en-US" sz="1100" dirty="0"/>
          </a:p>
        </p:txBody>
      </p:sp>
      <p:sp>
        <p:nvSpPr>
          <p:cNvPr id="79" name="Text 18">
            <a:extLst>
              <a:ext uri="{FF2B5EF4-FFF2-40B4-BE49-F238E27FC236}">
                <a16:creationId xmlns:a16="http://schemas.microsoft.com/office/drawing/2014/main" id="{4EE5E69D-7C56-A69B-81AB-45BB1E4F95DB}"/>
              </a:ext>
            </a:extLst>
          </p:cNvPr>
          <p:cNvSpPr txBox="1"/>
          <p:nvPr/>
        </p:nvSpPr>
        <p:spPr>
          <a:xfrm>
            <a:off x="365760" y="4350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EDGE, RUNTIME &amp; INTERFACE</a:t>
            </a:r>
            <a:endParaRPr lang="en-US" sz="1400" dirty="0"/>
          </a:p>
        </p:txBody>
      </p:sp>
      <p:pic>
        <p:nvPicPr>
          <p:cNvPr id="81" name="Image 8" descr="icons/tensorrt.png">
            <a:extLst>
              <a:ext uri="{FF2B5EF4-FFF2-40B4-BE49-F238E27FC236}">
                <a16:creationId xmlns:a16="http://schemas.microsoft.com/office/drawing/2014/main" id="{05A6B685-7210-D596-1660-4FFD6E2BF1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2109" y="4694618"/>
            <a:ext cx="457200" cy="457200"/>
          </a:xfrm>
          <a:prstGeom prst="rect">
            <a:avLst/>
          </a:prstGeom>
        </p:spPr>
      </p:pic>
      <p:sp>
        <p:nvSpPr>
          <p:cNvPr id="83" name="Text 19">
            <a:extLst>
              <a:ext uri="{FF2B5EF4-FFF2-40B4-BE49-F238E27FC236}">
                <a16:creationId xmlns:a16="http://schemas.microsoft.com/office/drawing/2014/main" id="{7FF7CBE7-D391-BA53-6D9B-692AFF4073DF}"/>
              </a:ext>
            </a:extLst>
          </p:cNvPr>
          <p:cNvSpPr txBox="1"/>
          <p:nvPr/>
        </p:nvSpPr>
        <p:spPr>
          <a:xfrm>
            <a:off x="693801" y="519753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</a:t>
            </a:r>
            <a:endParaRPr lang="en-US" sz="1100" dirty="0"/>
          </a:p>
        </p:txBody>
      </p:sp>
      <p:pic>
        <p:nvPicPr>
          <p:cNvPr id="85" name="Image 9" descr="icons/fastapi.png">
            <a:extLst>
              <a:ext uri="{FF2B5EF4-FFF2-40B4-BE49-F238E27FC236}">
                <a16:creationId xmlns:a16="http://schemas.microsoft.com/office/drawing/2014/main" id="{F757101B-FC4E-576F-78AE-32F5EEB38AE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82521" y="4694618"/>
            <a:ext cx="457200" cy="457200"/>
          </a:xfrm>
          <a:prstGeom prst="rect">
            <a:avLst/>
          </a:prstGeom>
        </p:spPr>
      </p:pic>
      <p:sp>
        <p:nvSpPr>
          <p:cNvPr id="87" name="Text 20">
            <a:extLst>
              <a:ext uri="{FF2B5EF4-FFF2-40B4-BE49-F238E27FC236}">
                <a16:creationId xmlns:a16="http://schemas.microsoft.com/office/drawing/2014/main" id="{A9314AE0-5685-08D8-5208-ABF9791B1024}"/>
              </a:ext>
            </a:extLst>
          </p:cNvPr>
          <p:cNvSpPr txBox="1"/>
          <p:nvPr/>
        </p:nvSpPr>
        <p:spPr>
          <a:xfrm>
            <a:off x="1704213" y="519753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pic>
        <p:nvPicPr>
          <p:cNvPr id="89" name="Image 10" descr="icons/webgui.png">
            <a:extLst>
              <a:ext uri="{FF2B5EF4-FFF2-40B4-BE49-F238E27FC236}">
                <a16:creationId xmlns:a16="http://schemas.microsoft.com/office/drawing/2014/main" id="{D0200481-5717-2217-83A2-E237BD2E54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50134" y="4674616"/>
            <a:ext cx="457200" cy="457200"/>
          </a:xfrm>
          <a:prstGeom prst="rect">
            <a:avLst/>
          </a:prstGeom>
        </p:spPr>
      </p:pic>
      <p:sp>
        <p:nvSpPr>
          <p:cNvPr id="91" name="Text 21">
            <a:extLst>
              <a:ext uri="{FF2B5EF4-FFF2-40B4-BE49-F238E27FC236}">
                <a16:creationId xmlns:a16="http://schemas.microsoft.com/office/drawing/2014/main" id="{8B6EA2E7-C6A1-7FF5-C571-0BADA4F363E6}"/>
              </a:ext>
            </a:extLst>
          </p:cNvPr>
          <p:cNvSpPr txBox="1"/>
          <p:nvPr/>
        </p:nvSpPr>
        <p:spPr>
          <a:xfrm>
            <a:off x="2671826" y="5177536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Web GUI</a:t>
            </a:r>
            <a:endParaRPr lang="en-US" sz="1100" dirty="0"/>
          </a:p>
        </p:txBody>
      </p:sp>
      <p:pic>
        <p:nvPicPr>
          <p:cNvPr id="93" name="Image 11" descr="icons/whisper.png">
            <a:extLst>
              <a:ext uri="{FF2B5EF4-FFF2-40B4-BE49-F238E27FC236}">
                <a16:creationId xmlns:a16="http://schemas.microsoft.com/office/drawing/2014/main" id="{1B6BE995-6B83-6293-7241-278F252E398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1333" y="5505037"/>
            <a:ext cx="457200" cy="457200"/>
          </a:xfrm>
          <a:prstGeom prst="rect">
            <a:avLst/>
          </a:prstGeom>
        </p:spPr>
      </p:pic>
      <p:sp>
        <p:nvSpPr>
          <p:cNvPr id="95" name="Text 22">
            <a:extLst>
              <a:ext uri="{FF2B5EF4-FFF2-40B4-BE49-F238E27FC236}">
                <a16:creationId xmlns:a16="http://schemas.microsoft.com/office/drawing/2014/main" id="{06806020-4E96-B09C-2CD4-3859EA15DFE6}"/>
              </a:ext>
            </a:extLst>
          </p:cNvPr>
          <p:cNvSpPr txBox="1"/>
          <p:nvPr/>
        </p:nvSpPr>
        <p:spPr>
          <a:xfrm>
            <a:off x="1343025" y="6007957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</a:t>
            </a:r>
            <a:endParaRPr lang="en-US" sz="1100" dirty="0"/>
          </a:p>
        </p:txBody>
      </p:sp>
      <p:pic>
        <p:nvPicPr>
          <p:cNvPr id="97" name="Image 12" descr="icons/tts.png">
            <a:extLst>
              <a:ext uri="{FF2B5EF4-FFF2-40B4-BE49-F238E27FC236}">
                <a16:creationId xmlns:a16="http://schemas.microsoft.com/office/drawing/2014/main" id="{EFE12CC5-1B59-3227-FD31-0ACCF73112E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43709" y="5505037"/>
            <a:ext cx="457200" cy="457200"/>
          </a:xfrm>
          <a:prstGeom prst="rect">
            <a:avLst/>
          </a:prstGeom>
        </p:spPr>
      </p:pic>
      <p:sp>
        <p:nvSpPr>
          <p:cNvPr id="99" name="Text 23">
            <a:extLst>
              <a:ext uri="{FF2B5EF4-FFF2-40B4-BE49-F238E27FC236}">
                <a16:creationId xmlns:a16="http://schemas.microsoft.com/office/drawing/2014/main" id="{E42B8167-34BC-1D24-3C4E-8D1E165E79E4}"/>
              </a:ext>
            </a:extLst>
          </p:cNvPr>
          <p:cNvSpPr txBox="1"/>
          <p:nvPr/>
        </p:nvSpPr>
        <p:spPr>
          <a:xfrm>
            <a:off x="2065401" y="6007957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100" dirty="0"/>
          </a:p>
        </p:txBody>
      </p:sp>
      <p:sp>
        <p:nvSpPr>
          <p:cNvPr id="101" name="Shape 24">
            <a:extLst>
              <a:ext uri="{FF2B5EF4-FFF2-40B4-BE49-F238E27FC236}">
                <a16:creationId xmlns:a16="http://schemas.microsoft.com/office/drawing/2014/main" id="{DBD187AE-16FB-A6A3-8E0F-A253A59644A3}"/>
              </a:ext>
            </a:extLst>
          </p:cNvPr>
          <p:cNvSpPr/>
          <p:nvPr/>
        </p:nvSpPr>
        <p:spPr>
          <a:xfrm>
            <a:off x="4251960" y="1463040"/>
            <a:ext cx="3611880" cy="1124712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3" name="Text 25">
            <a:extLst>
              <a:ext uri="{FF2B5EF4-FFF2-40B4-BE49-F238E27FC236}">
                <a16:creationId xmlns:a16="http://schemas.microsoft.com/office/drawing/2014/main" id="{243BE92F-6F80-314D-172C-6180B47DC7EE}"/>
              </a:ext>
            </a:extLst>
          </p:cNvPr>
          <p:cNvSpPr txBox="1"/>
          <p:nvPr/>
        </p:nvSpPr>
        <p:spPr>
          <a:xfrm>
            <a:off x="4507992" y="155244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Stack</a:t>
            </a:r>
            <a:endParaRPr lang="en-US" dirty="0"/>
          </a:p>
        </p:txBody>
      </p:sp>
      <p:sp>
        <p:nvSpPr>
          <p:cNvPr id="105" name="Text 26">
            <a:extLst>
              <a:ext uri="{FF2B5EF4-FFF2-40B4-BE49-F238E27FC236}">
                <a16:creationId xmlns:a16="http://schemas.microsoft.com/office/drawing/2014/main" id="{A6B40FE0-E932-67C5-0DC1-7D9A88D813FB}"/>
              </a:ext>
            </a:extLst>
          </p:cNvPr>
          <p:cNvSpPr txBox="1"/>
          <p:nvPr/>
        </p:nvSpPr>
        <p:spPr>
          <a:xfrm>
            <a:off x="4544568" y="1973072"/>
            <a:ext cx="3026664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YOLO-family detection, 2D pose, SMPL-X rack-relative 3D HMR, hand-contact detection</a:t>
            </a:r>
            <a:endParaRPr lang="en-US" sz="1200" dirty="0"/>
          </a:p>
        </p:txBody>
      </p:sp>
      <p:sp>
        <p:nvSpPr>
          <p:cNvPr id="107" name="Shape 27">
            <a:extLst>
              <a:ext uri="{FF2B5EF4-FFF2-40B4-BE49-F238E27FC236}">
                <a16:creationId xmlns:a16="http://schemas.microsoft.com/office/drawing/2014/main" id="{3019E90C-3DB9-F0F7-A07A-A2FD63914F70}"/>
              </a:ext>
            </a:extLst>
          </p:cNvPr>
          <p:cNvSpPr/>
          <p:nvPr/>
        </p:nvSpPr>
        <p:spPr>
          <a:xfrm>
            <a:off x="4251960" y="2950464"/>
            <a:ext cx="3611880" cy="1124712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9" name="Text 28">
            <a:extLst>
              <a:ext uri="{FF2B5EF4-FFF2-40B4-BE49-F238E27FC236}">
                <a16:creationId xmlns:a16="http://schemas.microsoft.com/office/drawing/2014/main" id="{7C019B2A-FB19-2678-DEC1-C5F9B4ABDAAA}"/>
              </a:ext>
            </a:extLst>
          </p:cNvPr>
          <p:cNvSpPr txBox="1"/>
          <p:nvPr/>
        </p:nvSpPr>
        <p:spPr>
          <a:xfrm>
            <a:off x="4507992" y="3039872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Validation</a:t>
            </a:r>
            <a:endParaRPr lang="en-US" dirty="0"/>
          </a:p>
        </p:txBody>
      </p:sp>
      <p:sp>
        <p:nvSpPr>
          <p:cNvPr id="111" name="Text 29">
            <a:extLst>
              <a:ext uri="{FF2B5EF4-FFF2-40B4-BE49-F238E27FC236}">
                <a16:creationId xmlns:a16="http://schemas.microsoft.com/office/drawing/2014/main" id="{964378DC-F956-2F6B-AA73-B5D84B774336}"/>
              </a:ext>
            </a:extLst>
          </p:cNvPr>
          <p:cNvSpPr txBox="1"/>
          <p:nvPr/>
        </p:nvSpPr>
        <p:spPr>
          <a:xfrm>
            <a:off x="4544568" y="3460496"/>
            <a:ext cx="3026664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FSM + procedure YAML; rule-based deviation detection; confidence-gated decisions</a:t>
            </a:r>
            <a:endParaRPr lang="en-US" sz="1200" dirty="0"/>
          </a:p>
        </p:txBody>
      </p:sp>
      <p:sp>
        <p:nvSpPr>
          <p:cNvPr id="113" name="Shape 30">
            <a:extLst>
              <a:ext uri="{FF2B5EF4-FFF2-40B4-BE49-F238E27FC236}">
                <a16:creationId xmlns:a16="http://schemas.microsoft.com/office/drawing/2014/main" id="{357870E2-0F0A-EE3C-BB71-01F47CF2756F}"/>
              </a:ext>
            </a:extLst>
          </p:cNvPr>
          <p:cNvSpPr/>
          <p:nvPr/>
        </p:nvSpPr>
        <p:spPr>
          <a:xfrm>
            <a:off x="4242816" y="4437888"/>
            <a:ext cx="3611880" cy="1124712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15" name="Text 31">
            <a:extLst>
              <a:ext uri="{FF2B5EF4-FFF2-40B4-BE49-F238E27FC236}">
                <a16:creationId xmlns:a16="http://schemas.microsoft.com/office/drawing/2014/main" id="{7AF852AF-DEB2-308F-B846-FB80D83C5FFD}"/>
              </a:ext>
            </a:extLst>
          </p:cNvPr>
          <p:cNvSpPr txBox="1"/>
          <p:nvPr/>
        </p:nvSpPr>
        <p:spPr>
          <a:xfrm>
            <a:off x="4498848" y="4527296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dirty="0"/>
          </a:p>
        </p:txBody>
      </p:sp>
      <p:sp>
        <p:nvSpPr>
          <p:cNvPr id="117" name="Text 32">
            <a:extLst>
              <a:ext uri="{FF2B5EF4-FFF2-40B4-BE49-F238E27FC236}">
                <a16:creationId xmlns:a16="http://schemas.microsoft.com/office/drawing/2014/main" id="{DE4EED17-E1AE-8072-DDCD-FD6BB6274B5E}"/>
              </a:ext>
            </a:extLst>
          </p:cNvPr>
          <p:cNvSpPr txBox="1"/>
          <p:nvPr/>
        </p:nvSpPr>
        <p:spPr>
          <a:xfrm>
            <a:off x="4535424" y="4947920"/>
            <a:ext cx="3026664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+ TensorRT runtime, INT8 quantization, async event-bus pipeline for graceful degradation</a:t>
            </a:r>
            <a:endParaRPr lang="en-US" sz="1200" dirty="0"/>
          </a:p>
        </p:txBody>
      </p:sp>
      <p:sp>
        <p:nvSpPr>
          <p:cNvPr id="119" name="Text 33">
            <a:extLst>
              <a:ext uri="{FF2B5EF4-FFF2-40B4-BE49-F238E27FC236}">
                <a16:creationId xmlns:a16="http://schemas.microsoft.com/office/drawing/2014/main" id="{B65AE538-A6F4-3804-472B-2775532DE4A2}"/>
              </a:ext>
            </a:extLst>
          </p:cNvPr>
          <p:cNvSpPr txBox="1"/>
          <p:nvPr/>
        </p:nvSpPr>
        <p:spPr>
          <a:xfrm>
            <a:off x="8138160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600" dirty="0"/>
          </a:p>
        </p:txBody>
      </p:sp>
      <p:sp>
        <p:nvSpPr>
          <p:cNvPr id="121" name="Shape 34">
            <a:extLst>
              <a:ext uri="{FF2B5EF4-FFF2-40B4-BE49-F238E27FC236}">
                <a16:creationId xmlns:a16="http://schemas.microsoft.com/office/drawing/2014/main" id="{B7573CA5-6A21-7E01-CF6B-2E319C0B0A19}"/>
              </a:ext>
            </a:extLst>
          </p:cNvPr>
          <p:cNvSpPr/>
          <p:nvPr/>
        </p:nvSpPr>
        <p:spPr>
          <a:xfrm>
            <a:off x="8138160" y="1681408"/>
            <a:ext cx="36118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</p:spPr>
      </p:sp>
      <p:sp>
        <p:nvSpPr>
          <p:cNvPr id="123" name="Shape 35">
            <a:extLst>
              <a:ext uri="{FF2B5EF4-FFF2-40B4-BE49-F238E27FC236}">
                <a16:creationId xmlns:a16="http://schemas.microsoft.com/office/drawing/2014/main" id="{BE3B27C1-D5F0-B6C1-9801-085D98722F9C}"/>
              </a:ext>
            </a:extLst>
          </p:cNvPr>
          <p:cNvSpPr/>
          <p:nvPr/>
        </p:nvSpPr>
        <p:spPr>
          <a:xfrm>
            <a:off x="8284464" y="1836856"/>
            <a:ext cx="292608" cy="292608"/>
          </a:xfrm>
          <a:prstGeom prst="ellipse">
            <a:avLst/>
          </a:prstGeom>
          <a:solidFill>
            <a:srgbClr val="3B7A3B"/>
          </a:solidFill>
          <a:ln/>
        </p:spPr>
      </p:sp>
      <p:sp>
        <p:nvSpPr>
          <p:cNvPr id="125" name="Text 36">
            <a:extLst>
              <a:ext uri="{FF2B5EF4-FFF2-40B4-BE49-F238E27FC236}">
                <a16:creationId xmlns:a16="http://schemas.microsoft.com/office/drawing/2014/main" id="{BADE7498-9AEA-1714-A55F-B7591186F47E}"/>
              </a:ext>
            </a:extLst>
          </p:cNvPr>
          <p:cNvSpPr txBox="1"/>
          <p:nvPr/>
        </p:nvSpPr>
        <p:spPr>
          <a:xfrm>
            <a:off x="8284464" y="183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7" name="Text 37">
            <a:extLst>
              <a:ext uri="{FF2B5EF4-FFF2-40B4-BE49-F238E27FC236}">
                <a16:creationId xmlns:a16="http://schemas.microsoft.com/office/drawing/2014/main" id="{4BC14327-145A-36D5-F327-7EDE918BCBF1}"/>
              </a:ext>
            </a:extLst>
          </p:cNvPr>
          <p:cNvSpPr txBox="1"/>
          <p:nvPr/>
        </p:nvSpPr>
        <p:spPr>
          <a:xfrm>
            <a:off x="8741664" y="1736272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Capture — 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correct + deviation executions of one demo experiment; label objects/steps/actions</a:t>
            </a:r>
            <a:endParaRPr lang="en-US" sz="1100" dirty="0"/>
          </a:p>
        </p:txBody>
      </p:sp>
      <p:sp>
        <p:nvSpPr>
          <p:cNvPr id="129" name="Shape 38">
            <a:extLst>
              <a:ext uri="{FF2B5EF4-FFF2-40B4-BE49-F238E27FC236}">
                <a16:creationId xmlns:a16="http://schemas.microsoft.com/office/drawing/2014/main" id="{0B483FA7-9A65-B1B9-7DEB-10052DF34924}"/>
              </a:ext>
            </a:extLst>
          </p:cNvPr>
          <p:cNvSpPr/>
          <p:nvPr/>
        </p:nvSpPr>
        <p:spPr>
          <a:xfrm>
            <a:off x="8138160" y="2412928"/>
            <a:ext cx="36118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</p:spPr>
      </p:sp>
      <p:sp>
        <p:nvSpPr>
          <p:cNvPr id="131" name="Shape 39">
            <a:extLst>
              <a:ext uri="{FF2B5EF4-FFF2-40B4-BE49-F238E27FC236}">
                <a16:creationId xmlns:a16="http://schemas.microsoft.com/office/drawing/2014/main" id="{DBC914A3-6F7D-A73B-C4BA-EB048D3CE7A5}"/>
              </a:ext>
            </a:extLst>
          </p:cNvPr>
          <p:cNvSpPr/>
          <p:nvPr/>
        </p:nvSpPr>
        <p:spPr>
          <a:xfrm>
            <a:off x="8284464" y="2568376"/>
            <a:ext cx="292608" cy="292608"/>
          </a:xfrm>
          <a:prstGeom prst="ellipse">
            <a:avLst/>
          </a:prstGeom>
          <a:solidFill>
            <a:srgbClr val="3B7A3B"/>
          </a:solidFill>
          <a:ln/>
        </p:spPr>
      </p:sp>
      <p:sp>
        <p:nvSpPr>
          <p:cNvPr id="133" name="Text 40">
            <a:extLst>
              <a:ext uri="{FF2B5EF4-FFF2-40B4-BE49-F238E27FC236}">
                <a16:creationId xmlns:a16="http://schemas.microsoft.com/office/drawing/2014/main" id="{FF6685E5-0169-8BF8-70B1-B427F18A683D}"/>
              </a:ext>
            </a:extLst>
          </p:cNvPr>
          <p:cNvSpPr txBox="1"/>
          <p:nvPr/>
        </p:nvSpPr>
        <p:spPr>
          <a:xfrm>
            <a:off x="8284464" y="2558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5" name="Text 41">
            <a:extLst>
              <a:ext uri="{FF2B5EF4-FFF2-40B4-BE49-F238E27FC236}">
                <a16:creationId xmlns:a16="http://schemas.microsoft.com/office/drawing/2014/main" id="{9B8BA5DE-355E-4BFE-3C6A-BBF3CBA9AB53}"/>
              </a:ext>
            </a:extLst>
          </p:cNvPr>
          <p:cNvSpPr txBox="1"/>
          <p:nvPr/>
        </p:nvSpPr>
        <p:spPr>
          <a:xfrm>
            <a:off x="8741664" y="2467792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Training — 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detector, pose, hand-contact models on captured data</a:t>
            </a:r>
            <a:endParaRPr lang="en-US" sz="1100" dirty="0"/>
          </a:p>
        </p:txBody>
      </p:sp>
      <p:sp>
        <p:nvSpPr>
          <p:cNvPr id="137" name="Shape 42">
            <a:extLst>
              <a:ext uri="{FF2B5EF4-FFF2-40B4-BE49-F238E27FC236}">
                <a16:creationId xmlns:a16="http://schemas.microsoft.com/office/drawing/2014/main" id="{091A7A85-2A67-90D4-2577-E83CA89960FF}"/>
              </a:ext>
            </a:extLst>
          </p:cNvPr>
          <p:cNvSpPr/>
          <p:nvPr/>
        </p:nvSpPr>
        <p:spPr>
          <a:xfrm>
            <a:off x="8138160" y="3144448"/>
            <a:ext cx="36118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</p:spPr>
      </p:sp>
      <p:sp>
        <p:nvSpPr>
          <p:cNvPr id="139" name="Shape 43">
            <a:extLst>
              <a:ext uri="{FF2B5EF4-FFF2-40B4-BE49-F238E27FC236}">
                <a16:creationId xmlns:a16="http://schemas.microsoft.com/office/drawing/2014/main" id="{69BE8BE1-5C52-1E90-23DD-1132D78417CD}"/>
              </a:ext>
            </a:extLst>
          </p:cNvPr>
          <p:cNvSpPr/>
          <p:nvPr/>
        </p:nvSpPr>
        <p:spPr>
          <a:xfrm>
            <a:off x="8284464" y="3299896"/>
            <a:ext cx="292608" cy="292608"/>
          </a:xfrm>
          <a:prstGeom prst="ellipse">
            <a:avLst/>
          </a:prstGeom>
          <a:solidFill>
            <a:srgbClr val="3B7A3B"/>
          </a:solidFill>
          <a:ln/>
        </p:spPr>
      </p:sp>
      <p:sp>
        <p:nvSpPr>
          <p:cNvPr id="141" name="Text 44">
            <a:extLst>
              <a:ext uri="{FF2B5EF4-FFF2-40B4-BE49-F238E27FC236}">
                <a16:creationId xmlns:a16="http://schemas.microsoft.com/office/drawing/2014/main" id="{BF6496E7-8A8E-0D13-CEE7-0DCE9C67FAC8}"/>
              </a:ext>
            </a:extLst>
          </p:cNvPr>
          <p:cNvSpPr txBox="1"/>
          <p:nvPr/>
        </p:nvSpPr>
        <p:spPr>
          <a:xfrm>
            <a:off x="8284464" y="3299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3" name="Text 45">
            <a:extLst>
              <a:ext uri="{FF2B5EF4-FFF2-40B4-BE49-F238E27FC236}">
                <a16:creationId xmlns:a16="http://schemas.microsoft.com/office/drawing/2014/main" id="{4172B098-A498-CB21-456D-ADB9845CBBD1}"/>
              </a:ext>
            </a:extLst>
          </p:cNvPr>
          <p:cNvSpPr txBox="1"/>
          <p:nvPr/>
        </p:nvSpPr>
        <p:spPr>
          <a:xfrm>
            <a:off x="8741664" y="3199312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Engine Build — 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procedure as versioned YAML; implement FSM + validator</a:t>
            </a:r>
            <a:endParaRPr lang="en-US" sz="1100" dirty="0"/>
          </a:p>
        </p:txBody>
      </p:sp>
      <p:sp>
        <p:nvSpPr>
          <p:cNvPr id="145" name="Shape 46">
            <a:extLst>
              <a:ext uri="{FF2B5EF4-FFF2-40B4-BE49-F238E27FC236}">
                <a16:creationId xmlns:a16="http://schemas.microsoft.com/office/drawing/2014/main" id="{31E372F7-7114-3E9D-A732-60F25F6B85D1}"/>
              </a:ext>
            </a:extLst>
          </p:cNvPr>
          <p:cNvSpPr/>
          <p:nvPr/>
        </p:nvSpPr>
        <p:spPr>
          <a:xfrm>
            <a:off x="8138160" y="3875968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</p:spPr>
      </p:sp>
      <p:sp>
        <p:nvSpPr>
          <p:cNvPr id="147" name="Shape 47">
            <a:extLst>
              <a:ext uri="{FF2B5EF4-FFF2-40B4-BE49-F238E27FC236}">
                <a16:creationId xmlns:a16="http://schemas.microsoft.com/office/drawing/2014/main" id="{04401ACE-F89D-A7C9-EF04-C43833293F42}"/>
              </a:ext>
            </a:extLst>
          </p:cNvPr>
          <p:cNvSpPr/>
          <p:nvPr/>
        </p:nvSpPr>
        <p:spPr>
          <a:xfrm>
            <a:off x="8284464" y="4141144"/>
            <a:ext cx="292608" cy="292608"/>
          </a:xfrm>
          <a:prstGeom prst="ellipse">
            <a:avLst/>
          </a:prstGeom>
          <a:solidFill>
            <a:srgbClr val="3B7A3B"/>
          </a:solidFill>
          <a:ln/>
        </p:spPr>
      </p:sp>
      <p:sp>
        <p:nvSpPr>
          <p:cNvPr id="149" name="Text 48">
            <a:extLst>
              <a:ext uri="{FF2B5EF4-FFF2-40B4-BE49-F238E27FC236}">
                <a16:creationId xmlns:a16="http://schemas.microsoft.com/office/drawing/2014/main" id="{DC2564AD-93DD-81BB-6875-9CECD356CB55}"/>
              </a:ext>
            </a:extLst>
          </p:cNvPr>
          <p:cNvSpPr txBox="1"/>
          <p:nvPr/>
        </p:nvSpPr>
        <p:spPr>
          <a:xfrm>
            <a:off x="8284464" y="4131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1" name="Text 49">
            <a:extLst>
              <a:ext uri="{FF2B5EF4-FFF2-40B4-BE49-F238E27FC236}">
                <a16:creationId xmlns:a16="http://schemas.microsoft.com/office/drawing/2014/main" id="{7270E5FA-8D02-EAA9-361C-69D80787E811}"/>
              </a:ext>
            </a:extLst>
          </p:cNvPr>
          <p:cNvSpPr txBox="1"/>
          <p:nvPr/>
        </p:nvSpPr>
        <p:spPr>
          <a:xfrm>
            <a:off x="8741664" y="3930832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+ Voice — 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next-step / deviation alerts to offline TTS + GUI, incl. ASR → intent → retrieval-grounded templated response</a:t>
            </a:r>
            <a:endParaRPr lang="en-US" sz="1100" dirty="0"/>
          </a:p>
        </p:txBody>
      </p:sp>
      <p:sp>
        <p:nvSpPr>
          <p:cNvPr id="153" name="Shape 50">
            <a:extLst>
              <a:ext uri="{FF2B5EF4-FFF2-40B4-BE49-F238E27FC236}">
                <a16:creationId xmlns:a16="http://schemas.microsoft.com/office/drawing/2014/main" id="{D42334F8-38D0-3137-188D-2590348BF4FC}"/>
              </a:ext>
            </a:extLst>
          </p:cNvPr>
          <p:cNvSpPr/>
          <p:nvPr/>
        </p:nvSpPr>
        <p:spPr>
          <a:xfrm>
            <a:off x="8138160" y="4826944"/>
            <a:ext cx="36118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</p:spPr>
      </p:sp>
      <p:sp>
        <p:nvSpPr>
          <p:cNvPr id="155" name="Shape 51">
            <a:extLst>
              <a:ext uri="{FF2B5EF4-FFF2-40B4-BE49-F238E27FC236}">
                <a16:creationId xmlns:a16="http://schemas.microsoft.com/office/drawing/2014/main" id="{C7C91691-2364-86A8-1AF1-5D09E3F23A02}"/>
              </a:ext>
            </a:extLst>
          </p:cNvPr>
          <p:cNvSpPr/>
          <p:nvPr/>
        </p:nvSpPr>
        <p:spPr>
          <a:xfrm>
            <a:off x="8284464" y="4982392"/>
            <a:ext cx="292608" cy="292608"/>
          </a:xfrm>
          <a:prstGeom prst="ellipse">
            <a:avLst/>
          </a:prstGeom>
          <a:solidFill>
            <a:srgbClr val="3B7A3B"/>
          </a:solidFill>
          <a:ln/>
        </p:spPr>
      </p:sp>
      <p:sp>
        <p:nvSpPr>
          <p:cNvPr id="157" name="Text 52">
            <a:extLst>
              <a:ext uri="{FF2B5EF4-FFF2-40B4-BE49-F238E27FC236}">
                <a16:creationId xmlns:a16="http://schemas.microsoft.com/office/drawing/2014/main" id="{DAA666A9-B100-BA5E-CCE0-22C4056214F0}"/>
              </a:ext>
            </a:extLst>
          </p:cNvPr>
          <p:cNvSpPr txBox="1"/>
          <p:nvPr/>
        </p:nvSpPr>
        <p:spPr>
          <a:xfrm>
            <a:off x="8284464" y="4982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59" name="Text 53">
            <a:extLst>
              <a:ext uri="{FF2B5EF4-FFF2-40B4-BE49-F238E27FC236}">
                <a16:creationId xmlns:a16="http://schemas.microsoft.com/office/drawing/2014/main" id="{9F10008F-143E-881F-86F1-47ED5D0A1002}"/>
              </a:ext>
            </a:extLst>
          </p:cNvPr>
          <p:cNvSpPr txBox="1"/>
          <p:nvPr/>
        </p:nvSpPr>
        <p:spPr>
          <a:xfrm>
            <a:off x="8741664" y="4881808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Optimization + Test — 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Quantize, benchmark, run scenario + failure-injection tests</a:t>
            </a:r>
            <a:endParaRPr lang="en-US" sz="1100" dirty="0"/>
          </a:p>
        </p:txBody>
      </p:sp>
      <p:sp>
        <p:nvSpPr>
          <p:cNvPr id="161" name="Shape 54">
            <a:extLst>
              <a:ext uri="{FF2B5EF4-FFF2-40B4-BE49-F238E27FC236}">
                <a16:creationId xmlns:a16="http://schemas.microsoft.com/office/drawing/2014/main" id="{603D45E6-7A3F-7D75-EF1D-225B5D1D5572}"/>
              </a:ext>
            </a:extLst>
          </p:cNvPr>
          <p:cNvSpPr/>
          <p:nvPr/>
        </p:nvSpPr>
        <p:spPr>
          <a:xfrm>
            <a:off x="4251960" y="5729330"/>
            <a:ext cx="7498080" cy="56756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555555"/>
            </a:solidFill>
            <a:prstDash val="solid"/>
          </a:ln>
        </p:spPr>
      </p:sp>
      <p:sp>
        <p:nvSpPr>
          <p:cNvPr id="163" name="Text 55">
            <a:extLst>
              <a:ext uri="{FF2B5EF4-FFF2-40B4-BE49-F238E27FC236}">
                <a16:creationId xmlns:a16="http://schemas.microsoft.com/office/drawing/2014/main" id="{6F6C7CCF-1452-537B-F1FF-54390B7DA552}"/>
              </a:ext>
            </a:extLst>
          </p:cNvPr>
          <p:cNvSpPr txBox="1"/>
          <p:nvPr/>
        </p:nvSpPr>
        <p:spPr>
          <a:xfrm>
            <a:off x="6496812" y="5782482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Link [Details which couldn't be put in ppt] :</a:t>
            </a:r>
            <a:endParaRPr lang="en-US" sz="1050" dirty="0"/>
          </a:p>
        </p:txBody>
      </p:sp>
      <p:sp>
        <p:nvSpPr>
          <p:cNvPr id="168" name="Oval 167" descr="Your startup LOGO">
            <a:extLst>
              <a:ext uri="{FF2B5EF4-FFF2-40B4-BE49-F238E27FC236}">
                <a16:creationId xmlns:a16="http://schemas.microsoft.com/office/drawing/2014/main" id="{E0226BBC-BB23-B4A5-70AB-5784D5EE90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5454" y="15027"/>
            <a:ext cx="1192908" cy="73655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TARS-X</a:t>
            </a:r>
            <a:endParaRPr lang="en-IN" dirty="0"/>
          </a:p>
        </p:txBody>
      </p:sp>
      <p:sp>
        <p:nvSpPr>
          <p:cNvPr id="169" name="TextBox 168">
            <a:hlinkClick r:id="rId18"/>
            <a:extLst>
              <a:ext uri="{FF2B5EF4-FFF2-40B4-BE49-F238E27FC236}">
                <a16:creationId xmlns:a16="http://schemas.microsoft.com/office/drawing/2014/main" id="{7DCD2A03-D2A4-58CA-A079-8D32D5E03557}"/>
              </a:ext>
            </a:extLst>
          </p:cNvPr>
          <p:cNvSpPr txBox="1"/>
          <p:nvPr/>
        </p:nvSpPr>
        <p:spPr>
          <a:xfrm>
            <a:off x="4251960" y="6030304"/>
            <a:ext cx="7498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https://docs.google.com/document/d/1-NYBiExkd13WfE9VcMzO4fDX5rPoPGDR/edit?usp=sharing&amp;ouid=104876037954221267232&amp;rtpof=true&amp;sd=true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FAB844-9902-16C2-CC2E-5AEDF2EDF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B6E2FD-1C76-284E-F130-AA3EF81AC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592" y="159591"/>
            <a:ext cx="2482978" cy="615982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28F6D3C3-45F1-6CEC-1867-91DFA7235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138" y="1501"/>
            <a:ext cx="1709797" cy="807334"/>
          </a:xfrm>
          <a:prstGeom prst="rect">
            <a:avLst/>
          </a:prstGeom>
        </p:spPr>
      </p:pic>
      <p:sp>
        <p:nvSpPr>
          <p:cNvPr id="128" name="Oval 127" descr="Your startup LOGO">
            <a:extLst>
              <a:ext uri="{FF2B5EF4-FFF2-40B4-BE49-F238E27FC236}">
                <a16:creationId xmlns:a16="http://schemas.microsoft.com/office/drawing/2014/main" id="{D6DA2A1F-655D-FF71-A3FE-8DEFFB0520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5454" y="15027"/>
            <a:ext cx="1192908" cy="73655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TARS-X</a:t>
            </a:r>
            <a:endParaRPr lang="en-IN" dirty="0"/>
          </a:p>
        </p:txBody>
      </p:sp>
      <p:sp>
        <p:nvSpPr>
          <p:cNvPr id="129" name="Rounded Rectangle 128"/>
          <p:cNvSpPr/>
          <p:nvPr/>
        </p:nvSpPr>
        <p:spPr>
          <a:xfrm>
            <a:off x="457200" y="960120"/>
            <a:ext cx="6812280" cy="5257800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98A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2491740" y="1097280"/>
            <a:ext cx="2743200" cy="438912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Feasibility and Viability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3863340" y="1536192"/>
            <a:ext cx="0" cy="155448"/>
          </a:xfrm>
          <a:prstGeom prst="line">
            <a:avLst/>
          </a:prstGeom>
          <a:ln w="15875">
            <a:solidFill>
              <a:srgbClr val="5B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356741" y="1691640"/>
            <a:ext cx="5013198" cy="0"/>
          </a:xfrm>
          <a:prstGeom prst="line">
            <a:avLst/>
          </a:prstGeom>
          <a:ln w="15875">
            <a:solidFill>
              <a:srgbClr val="5B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356741" y="1691640"/>
            <a:ext cx="0" cy="155448"/>
          </a:xfrm>
          <a:prstGeom prst="line">
            <a:avLst/>
          </a:prstGeom>
          <a:ln w="15875">
            <a:solidFill>
              <a:srgbClr val="5B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027807" y="1691640"/>
            <a:ext cx="0" cy="155448"/>
          </a:xfrm>
          <a:prstGeom prst="line">
            <a:avLst/>
          </a:prstGeom>
          <a:ln w="15875">
            <a:solidFill>
              <a:srgbClr val="5B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698873" y="1691640"/>
            <a:ext cx="0" cy="155448"/>
          </a:xfrm>
          <a:prstGeom prst="line">
            <a:avLst/>
          </a:prstGeom>
          <a:ln w="15875">
            <a:solidFill>
              <a:srgbClr val="5B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6369939" y="1691640"/>
            <a:ext cx="0" cy="155448"/>
          </a:xfrm>
          <a:prstGeom prst="line">
            <a:avLst/>
          </a:prstGeom>
          <a:ln w="15875">
            <a:solidFill>
              <a:srgbClr val="5B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ounded Rectangle 136"/>
          <p:cNvSpPr/>
          <p:nvPr/>
        </p:nvSpPr>
        <p:spPr>
          <a:xfrm>
            <a:off x="566928" y="1847088"/>
            <a:ext cx="1579626" cy="50292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Technical Feasibility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66928" y="2450592"/>
            <a:ext cx="1579626" cy="710946"/>
          </a:xfrm>
          <a:prstGeom prst="roundRect">
            <a:avLst>
              <a:gd name="adj" fmla="val 6000"/>
            </a:avLst>
          </a:prstGeom>
          <a:solidFill>
            <a:srgbClr val="E7F1F5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Off-the-shelf cameras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A single USB/webcam-class camera is enough for the demo rig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66928" y="3225546"/>
            <a:ext cx="1579626" cy="710946"/>
          </a:xfrm>
          <a:prstGeom prst="roundRect">
            <a:avLst>
              <a:gd name="adj" fmla="val 6000"/>
            </a:avLst>
          </a:prstGeom>
          <a:solidFill>
            <a:srgbClr val="E7F1F5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Consumer GPU prototype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Full pipeline runs on a laptop/edge-GPU before flight-hardware porting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66928" y="4000500"/>
            <a:ext cx="1579626" cy="710946"/>
          </a:xfrm>
          <a:prstGeom prst="roundRect">
            <a:avLst>
              <a:gd name="adj" fmla="val 6000"/>
            </a:avLst>
          </a:prstGeom>
          <a:solidFill>
            <a:srgbClr val="E7F1F5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Small, focused dataset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One 4–5 step experiment needs only a few hours of labeled footage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66928" y="4775454"/>
            <a:ext cx="1579626" cy="710946"/>
          </a:xfrm>
          <a:prstGeom prst="roundRect">
            <a:avLst>
              <a:gd name="adj" fmla="val 6000"/>
            </a:avLst>
          </a:prstGeom>
          <a:solidFill>
            <a:srgbClr val="E7F1F5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Modular open-source models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YOLO, hand-tracking, SMPL are all pretrained-available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237994" y="1847088"/>
            <a:ext cx="1579626" cy="502920"/>
          </a:xfrm>
          <a:prstGeom prst="roundRect">
            <a:avLst>
              <a:gd name="adj" fmla="val 15000"/>
            </a:avLst>
          </a:prstGeom>
          <a:solidFill>
            <a:srgbClr val="149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Financial Feasibility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237994" y="2450592"/>
            <a:ext cx="1579626" cy="969264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9525">
            <a:solidFill>
              <a:srgbClr val="149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Low-cost prototype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Commodity cameras and a consumer/edge GPU keep the demo-rig budget small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237994" y="3483864"/>
            <a:ext cx="1579626" cy="969264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9525">
            <a:solidFill>
              <a:srgbClr val="149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Open-source stack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PyTorch, OpenCV, ONNX Runtime, FastAPI — no licensing fees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237994" y="4517136"/>
            <a:ext cx="1579626" cy="969264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9525">
            <a:solidFill>
              <a:srgbClr val="149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Reusable investment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One validated pipeline extends to any camera-observable, step-structured task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909060" y="1847088"/>
            <a:ext cx="1579626" cy="502920"/>
          </a:xfrm>
          <a:prstGeom prst="roundRect">
            <a:avLst>
              <a:gd name="adj" fmla="val 15000"/>
            </a:avLst>
          </a:prstGeom>
          <a:solidFill>
            <a:srgbClr val="E87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Operational Feasibility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909060" y="2450592"/>
            <a:ext cx="1579626" cy="969264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9525">
            <a:solidFill>
              <a:srgbClr val="E879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Fully offline, on-board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Detection-to-alert loop runs standalone — no ground link needed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909060" y="3483864"/>
            <a:ext cx="1579626" cy="969264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9525">
            <a:solidFill>
              <a:srgbClr val="E879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Existing fixed cameras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Works with the payload cameras already at the rack; no new crew hardware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909060" y="4517136"/>
            <a:ext cx="1579626" cy="969264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9525">
            <a:solidFill>
              <a:srgbClr val="E879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Simple crew interaction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Voice + GUI next-step prompts; procedures defined once as versioned YAML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580126" y="1847088"/>
            <a:ext cx="1579626" cy="502920"/>
          </a:xfrm>
          <a:prstGeom prst="roundRect">
            <a:avLst>
              <a:gd name="adj" fmla="val 15000"/>
            </a:avLst>
          </a:prstGeom>
          <a:solidFill>
            <a:srgbClr val="3B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Social Viability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580126" y="2450592"/>
            <a:ext cx="1579626" cy="969264"/>
          </a:xfrm>
          <a:prstGeom prst="roundRect">
            <a:avLst>
              <a:gd name="adj" fmla="val 6000"/>
            </a:avLst>
          </a:prstGeom>
          <a:solidFill>
            <a:srgbClr val="E8ECF4"/>
          </a:solidFill>
          <a:ln w="9525">
            <a:solidFill>
              <a:srgbClr val="3B4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Lower crew workload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Live next-step guidance reduces astronaut cognitive load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580126" y="3483864"/>
            <a:ext cx="1579626" cy="969264"/>
          </a:xfrm>
          <a:prstGeom prst="roundRect">
            <a:avLst>
              <a:gd name="adj" fmla="val 6000"/>
            </a:avLst>
          </a:prstGeom>
          <a:solidFill>
            <a:srgbClr val="E8ECF4"/>
          </a:solidFill>
          <a:ln w="9525">
            <a:solidFill>
              <a:srgbClr val="3B4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Trust &amp; transparency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Confidence-gated alerts and a timestamped audit log keep the crew in control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580126" y="4517136"/>
            <a:ext cx="1579626" cy="969264"/>
          </a:xfrm>
          <a:prstGeom prst="roundRect">
            <a:avLst>
              <a:gd name="adj" fmla="val 6000"/>
            </a:avLst>
          </a:prstGeom>
          <a:solidFill>
            <a:srgbClr val="E8ECF4"/>
          </a:solidFill>
          <a:ln w="9525">
            <a:solidFill>
              <a:srgbClr val="3B4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Scientific reliability</a:t>
            </a:r>
          </a:p>
          <a:p>
            <a:pPr algn="l"/>
            <a:r>
              <a:rPr sz="900" b="0" i="0">
                <a:solidFill>
                  <a:srgbClr val="1F2A44"/>
                </a:solidFill>
                <a:latin typeface="Calibri"/>
              </a:rPr>
              <a:t>Fewer repeated or invalidated experiment runs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66928" y="5596128"/>
            <a:ext cx="6592824" cy="512064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050" b="0" i="1" dirty="0">
                <a:solidFill>
                  <a:srgbClr val="1F2A44"/>
                </a:solidFill>
                <a:latin typeface="Calibri"/>
              </a:rPr>
              <a:t>Design principle: PRAHARI treats every </a:t>
            </a:r>
            <a:r>
              <a:rPr lang="en-US" sz="1050" i="1" dirty="0">
                <a:solidFill>
                  <a:srgbClr val="1F2A44"/>
                </a:solidFill>
                <a:latin typeface="Calibri"/>
              </a:rPr>
              <a:t>challenge</a:t>
            </a:r>
            <a:r>
              <a:rPr sz="1050" b="0" i="1" dirty="0">
                <a:solidFill>
                  <a:srgbClr val="1F2A44"/>
                </a:solidFill>
                <a:latin typeface="Calibri"/>
              </a:rPr>
              <a:t> as a first-class risk, each maps directly to a named mitigation on the right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452360" y="960120"/>
            <a:ext cx="4279392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i="0">
                <a:solidFill>
                  <a:srgbClr val="0B1F3A"/>
                </a:solidFill>
                <a:latin typeface="Calibri"/>
              </a:rPr>
              <a:t>STRATEGIES FOR OVERCOMING CHALLENGES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452360" y="1371600"/>
            <a:ext cx="4279392" cy="1755648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 w="12700">
            <a:solidFill>
              <a:srgbClr val="149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54864" rtlCol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B1F3A"/>
                </a:solidFill>
                <a:latin typeface="Calibri"/>
              </a:rPr>
              <a:t>TECHNICAL CHALLENGES</a:t>
            </a:r>
          </a:p>
          <a:p>
            <a:pPr marL="128016" indent="-128016" algn="l">
              <a:spcAft>
                <a:spcPts val="200"/>
              </a:spcAft>
              <a:buFont typeface="Arial"/>
              <a:buChar char="•"/>
            </a:pPr>
            <a:r>
              <a:rPr sz="1000" b="1" i="0">
                <a:solidFill>
                  <a:srgbClr val="0B1F3A"/>
                </a:solidFill>
                <a:latin typeface="Calibri"/>
              </a:rPr>
              <a:t>No real microgravity data</a:t>
            </a:r>
            <a:r>
              <a:rPr sz="1000" b="0" i="0">
                <a:solidFill>
                  <a:srgbClr val="1F2A44"/>
                </a:solidFill>
                <a:latin typeface="Calibri"/>
              </a:rPr>
              <a:t> → synthetic + analog data (3D-rotation, rig-simulated)</a:t>
            </a:r>
          </a:p>
          <a:p>
            <a:pPr marL="128016" indent="-128016" algn="l">
              <a:spcAft>
                <a:spcPts val="200"/>
              </a:spcAft>
              <a:buFont typeface="Arial"/>
              <a:buChar char="•"/>
            </a:pPr>
            <a:r>
              <a:rPr sz="1000" b="1" i="0">
                <a:solidFill>
                  <a:srgbClr val="0B1F3A"/>
                </a:solidFill>
                <a:latin typeface="Calibri"/>
              </a:rPr>
              <a:t>Hands/objects occluded</a:t>
            </a:r>
            <a:r>
              <a:rPr sz="1000" b="0" i="0">
                <a:solidFill>
                  <a:srgbClr val="1F2A44"/>
                </a:solidFill>
                <a:latin typeface="Calibri"/>
              </a:rPr>
              <a:t> → multi-camera fusion against a 2nd angle</a:t>
            </a:r>
          </a:p>
          <a:p>
            <a:pPr marL="128016" indent="-128016" algn="l">
              <a:spcAft>
                <a:spcPts val="200"/>
              </a:spcAft>
              <a:buFont typeface="Arial"/>
              <a:buChar char="•"/>
            </a:pPr>
            <a:r>
              <a:rPr sz="1000" b="1" i="0">
                <a:solidFill>
                  <a:srgbClr val="0B1F3A"/>
                </a:solidFill>
                <a:latin typeface="Calibri"/>
              </a:rPr>
              <a:t>Overconfident model scores</a:t>
            </a:r>
            <a:r>
              <a:rPr sz="1000" b="0" i="0">
                <a:solidFill>
                  <a:srgbClr val="1F2A44"/>
                </a:solidFill>
                <a:latin typeface="Calibri"/>
              </a:rPr>
              <a:t> → confidence gating: hold/decline low-confidence calls</a:t>
            </a:r>
          </a:p>
          <a:p>
            <a:pPr marL="128016" indent="-128016" algn="l">
              <a:spcAft>
                <a:spcPts val="200"/>
              </a:spcAft>
              <a:buFont typeface="Arial"/>
              <a:buChar char="•"/>
            </a:pPr>
            <a:r>
              <a:rPr sz="1000" b="1" i="0">
                <a:solidFill>
                  <a:srgbClr val="0B1F3A"/>
                </a:solidFill>
                <a:latin typeface="Calibri"/>
              </a:rPr>
              <a:t>Bandwidth-constrained streaming</a:t>
            </a:r>
            <a:r>
              <a:rPr sz="1000" b="0" i="0">
                <a:solidFill>
                  <a:srgbClr val="1F2A44"/>
                </a:solidFill>
                <a:latin typeface="Calibri"/>
              </a:rPr>
              <a:t> → event clips &amp; telemetry over raw video</a:t>
            </a:r>
          </a:p>
          <a:p>
            <a:pPr marL="128016" indent="-128016" algn="l">
              <a:spcAft>
                <a:spcPts val="200"/>
              </a:spcAft>
              <a:buFont typeface="Arial"/>
              <a:buChar char="•"/>
            </a:pPr>
            <a:r>
              <a:rPr sz="1000" b="1" i="0">
                <a:solidFill>
                  <a:srgbClr val="0B1F3A"/>
                </a:solidFill>
                <a:latin typeface="Calibri"/>
              </a:rPr>
              <a:t>Real-time budget</a:t>
            </a:r>
            <a:r>
              <a:rPr sz="1000" b="0" i="0">
                <a:solidFill>
                  <a:srgbClr val="1F2A44"/>
                </a:solidFill>
                <a:latin typeface="Calibri"/>
              </a:rPr>
              <a:t> → INT8 / ONNX-TensorRT edge quantization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452360" y="3236976"/>
            <a:ext cx="4279392" cy="1444752"/>
          </a:xfrm>
          <a:prstGeom prst="roundRect">
            <a:avLst>
              <a:gd name="adj" fmla="val 5000"/>
            </a:avLst>
          </a:prstGeom>
          <a:solidFill>
            <a:srgbClr val="FFF6DA"/>
          </a:solidFill>
          <a:ln w="12700">
            <a:solidFill>
              <a:srgbClr val="C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54864" rtlCol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B1F3A"/>
                </a:solidFill>
                <a:latin typeface="Calibri"/>
              </a:rPr>
              <a:t>FINANCIAL CHALLENGES</a:t>
            </a:r>
          </a:p>
          <a:p>
            <a:pPr marL="128016" indent="-128016" algn="l">
              <a:spcAft>
                <a:spcPts val="200"/>
              </a:spcAft>
              <a:buFont typeface="Arial"/>
              <a:buChar char="•"/>
            </a:pPr>
            <a:r>
              <a:rPr sz="1000" b="1" i="0">
                <a:solidFill>
                  <a:srgbClr val="0B1F3A"/>
                </a:solidFill>
                <a:latin typeface="Calibri"/>
              </a:rPr>
              <a:t>Hardware cost</a:t>
            </a:r>
            <a:r>
              <a:rPr sz="1000" b="0" i="0">
                <a:solidFill>
                  <a:srgbClr val="1F2A44"/>
                </a:solidFill>
                <a:latin typeface="Calibri"/>
              </a:rPr>
              <a:t> → prototype on commodity cameras + consumer GPU before flight-hardware spend</a:t>
            </a:r>
          </a:p>
          <a:p>
            <a:pPr marL="128016" indent="-128016" algn="l">
              <a:spcAft>
                <a:spcPts val="200"/>
              </a:spcAft>
              <a:buFont typeface="Arial"/>
              <a:buChar char="•"/>
            </a:pPr>
            <a:r>
              <a:rPr sz="1000" b="1" i="0">
                <a:solidFill>
                  <a:srgbClr val="0B1F3A"/>
                </a:solidFill>
                <a:latin typeface="Calibri"/>
              </a:rPr>
              <a:t>Development cost</a:t>
            </a:r>
            <a:r>
              <a:rPr sz="1000" b="0" i="0">
                <a:solidFill>
                  <a:srgbClr val="1F2A44"/>
                </a:solidFill>
                <a:latin typeface="Calibri"/>
              </a:rPr>
              <a:t> → open-source stack; no licensing fees</a:t>
            </a:r>
          </a:p>
          <a:p>
            <a:pPr marL="128016" indent="-128016" algn="l">
              <a:spcAft>
                <a:spcPts val="200"/>
              </a:spcAft>
              <a:buFont typeface="Arial"/>
              <a:buChar char="•"/>
            </a:pPr>
            <a:r>
              <a:rPr sz="1000" b="1" i="0">
                <a:solidFill>
                  <a:srgbClr val="0B1F3A"/>
                </a:solidFill>
                <a:latin typeface="Calibri"/>
              </a:rPr>
              <a:t>Funding</a:t>
            </a:r>
            <a:r>
              <a:rPr sz="1000" b="0" i="0">
                <a:solidFill>
                  <a:srgbClr val="1F2A44"/>
                </a:solidFill>
                <a:latin typeface="Calibri"/>
              </a:rPr>
              <a:t> → phased rollout from one demo experiment; pursue space-agency R&amp;D and academic grant routes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452360" y="4791456"/>
            <a:ext cx="4279392" cy="1444752"/>
          </a:xfrm>
          <a:prstGeom prst="roundRect">
            <a:avLst>
              <a:gd name="adj" fmla="val 5000"/>
            </a:avLst>
          </a:prstGeom>
          <a:solidFill>
            <a:srgbClr val="FDEEE2"/>
          </a:solidFill>
          <a:ln w="12700">
            <a:solidFill>
              <a:srgbClr val="E879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54864" rtlCol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B1F3A"/>
                </a:solidFill>
                <a:latin typeface="Calibri"/>
              </a:rPr>
              <a:t>OPERATIONAL CHALLENGES</a:t>
            </a:r>
          </a:p>
          <a:p>
            <a:pPr marL="128016" indent="-128016" algn="l">
              <a:spcAft>
                <a:spcPts val="200"/>
              </a:spcAft>
              <a:buFont typeface="Arial"/>
              <a:buChar char="•"/>
            </a:pPr>
            <a:r>
              <a:rPr sz="1000" b="1" i="0">
                <a:solidFill>
                  <a:srgbClr val="0B1F3A"/>
                </a:solidFill>
                <a:latin typeface="Calibri"/>
              </a:rPr>
              <a:t>Crew adoption</a:t>
            </a:r>
            <a:r>
              <a:rPr sz="1000" b="0" i="0">
                <a:solidFill>
                  <a:srgbClr val="1F2A44"/>
                </a:solidFill>
                <a:latin typeface="Calibri"/>
              </a:rPr>
              <a:t> → simple voice + GUI prompts; no new crew hardware</a:t>
            </a:r>
          </a:p>
          <a:p>
            <a:pPr marL="128016" indent="-128016" algn="l">
              <a:spcAft>
                <a:spcPts val="200"/>
              </a:spcAft>
              <a:buFont typeface="Arial"/>
              <a:buChar char="•"/>
            </a:pPr>
            <a:r>
              <a:rPr sz="1000" b="1" i="0">
                <a:solidFill>
                  <a:srgbClr val="0B1F3A"/>
                </a:solidFill>
                <a:latin typeface="Calibri"/>
              </a:rPr>
              <a:t>Procedure onboarding</a:t>
            </a:r>
            <a:r>
              <a:rPr sz="1000" b="0" i="0">
                <a:solidFill>
                  <a:srgbClr val="1F2A44"/>
                </a:solidFill>
                <a:latin typeface="Calibri"/>
              </a:rPr>
              <a:t> → each procedure encoded once as versioned YAML and reused</a:t>
            </a:r>
          </a:p>
          <a:p>
            <a:pPr marL="128016" indent="-128016" algn="l">
              <a:spcAft>
                <a:spcPts val="200"/>
              </a:spcAft>
              <a:buFont typeface="Arial"/>
              <a:buChar char="•"/>
            </a:pPr>
            <a:r>
              <a:rPr sz="1000" b="1" i="0">
                <a:solidFill>
                  <a:srgbClr val="0B1F3A"/>
                </a:solidFill>
                <a:latin typeface="Calibri"/>
              </a:rPr>
              <a:t>Runtime failures</a:t>
            </a:r>
            <a:r>
              <a:rPr sz="1000" b="0" i="0">
                <a:solidFill>
                  <a:srgbClr val="1F2A44"/>
                </a:solidFill>
                <a:latin typeface="Calibri"/>
              </a:rPr>
              <a:t> → async event-bus pipeline degrades gracefully; failure-injection tests before deployment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enefitCard2">
            <a:extLst>
              <a:ext uri="{FF2B5EF4-FFF2-40B4-BE49-F238E27FC236}">
                <a16:creationId xmlns:a16="http://schemas.microsoft.com/office/drawing/2014/main" id="{A2D51777-4EE4-FB16-E546-DAAEBB71F55E}"/>
              </a:ext>
            </a:extLst>
          </p:cNvPr>
          <p:cNvSpPr/>
          <p:nvPr/>
        </p:nvSpPr>
        <p:spPr>
          <a:xfrm>
            <a:off x="8067040" y="4817318"/>
            <a:ext cx="3667760" cy="1310001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69" name="BenefitTitle2">
            <a:extLst>
              <a:ext uri="{FF2B5EF4-FFF2-40B4-BE49-F238E27FC236}">
                <a16:creationId xmlns:a16="http://schemas.microsoft.com/office/drawing/2014/main" id="{623B2E6C-F629-443B-A28B-29B765F906B4}"/>
              </a:ext>
            </a:extLst>
          </p:cNvPr>
          <p:cNvSpPr txBox="1"/>
          <p:nvPr/>
        </p:nvSpPr>
        <p:spPr>
          <a:xfrm>
            <a:off x="8744200" y="4937318"/>
            <a:ext cx="28534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6F5988-8937-F6D2-7DF5-A086902C9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138" y="1501"/>
            <a:ext cx="1709797" cy="807334"/>
          </a:xfrm>
          <a:prstGeom prst="rect">
            <a:avLst/>
          </a:prstGeom>
        </p:spPr>
      </p:pic>
      <p:sp>
        <p:nvSpPr>
          <p:cNvPr id="8" name="TableHeader">
            <a:extLst>
              <a:ext uri="{FF2B5EF4-FFF2-40B4-BE49-F238E27FC236}">
                <a16:creationId xmlns:a16="http://schemas.microsoft.com/office/drawing/2014/main" id="{40763C1C-1732-01ED-AC7C-4E4D9A98D067}"/>
              </a:ext>
            </a:extLst>
          </p:cNvPr>
          <p:cNvSpPr txBox="1"/>
          <p:nvPr/>
        </p:nvSpPr>
        <p:spPr>
          <a:xfrm>
            <a:off x="457200" y="1051560"/>
            <a:ext cx="62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HAR vs. PRAHARI  - BENEFITS</a:t>
            </a:r>
            <a:endParaRPr lang="en-US" sz="1200" dirty="0"/>
          </a:p>
        </p:txBody>
      </p:sp>
      <p:sp>
        <p:nvSpPr>
          <p:cNvPr id="9" name="TblHeaderBg">
            <a:extLst>
              <a:ext uri="{FF2B5EF4-FFF2-40B4-BE49-F238E27FC236}">
                <a16:creationId xmlns:a16="http://schemas.microsoft.com/office/drawing/2014/main" id="{0201D6C7-940D-1DEF-D756-EF7898126DE5}"/>
              </a:ext>
            </a:extLst>
          </p:cNvPr>
          <p:cNvSpPr/>
          <p:nvPr/>
        </p:nvSpPr>
        <p:spPr>
          <a:xfrm>
            <a:off x="457200" y="1417320"/>
            <a:ext cx="6200000" cy="320000"/>
          </a:xfrm>
          <a:prstGeom prst="rect">
            <a:avLst/>
          </a:prstGeom>
          <a:solidFill>
            <a:schemeClr val="accent3">
              <a:lumMod val="75000"/>
              <a:alpha val="90000"/>
            </a:schemeClr>
          </a:solidFill>
          <a:ln>
            <a:noFill/>
          </a:ln>
        </p:spPr>
      </p:sp>
      <p:sp>
        <p:nvSpPr>
          <p:cNvPr id="12" name="TblH0">
            <a:extLst>
              <a:ext uri="{FF2B5EF4-FFF2-40B4-BE49-F238E27FC236}">
                <a16:creationId xmlns:a16="http://schemas.microsoft.com/office/drawing/2014/main" id="{9C29D9BA-6160-1363-410E-AB5F58002014}"/>
              </a:ext>
            </a:extLst>
          </p:cNvPr>
          <p:cNvSpPr txBox="1"/>
          <p:nvPr/>
        </p:nvSpPr>
        <p:spPr>
          <a:xfrm>
            <a:off x="548640" y="1417320"/>
            <a:ext cx="21085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3" name="TblH1">
            <a:extLst>
              <a:ext uri="{FF2B5EF4-FFF2-40B4-BE49-F238E27FC236}">
                <a16:creationId xmlns:a16="http://schemas.microsoft.com/office/drawing/2014/main" id="{2472D7FD-3300-F07B-BA7B-FFA6A0135933}"/>
              </a:ext>
            </a:extLst>
          </p:cNvPr>
          <p:cNvSpPr txBox="1"/>
          <p:nvPr/>
        </p:nvSpPr>
        <p:spPr>
          <a:xfrm>
            <a:off x="2657200" y="1417320"/>
            <a:ext cx="19542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TRADITIONAL HAR</a:t>
            </a:r>
            <a:endParaRPr lang="en-US" sz="900" dirty="0"/>
          </a:p>
        </p:txBody>
      </p:sp>
      <p:sp>
        <p:nvSpPr>
          <p:cNvPr id="14" name="TblH2">
            <a:extLst>
              <a:ext uri="{FF2B5EF4-FFF2-40B4-BE49-F238E27FC236}">
                <a16:creationId xmlns:a16="http://schemas.microsoft.com/office/drawing/2014/main" id="{E6F09B8D-798F-7EBF-5942-A7E1A025888C}"/>
              </a:ext>
            </a:extLst>
          </p:cNvPr>
          <p:cNvSpPr txBox="1"/>
          <p:nvPr/>
        </p:nvSpPr>
        <p:spPr>
          <a:xfrm>
            <a:off x="4657200" y="1417320"/>
            <a:ext cx="19542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PRAHARI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TblRowBg0">
            <a:extLst>
              <a:ext uri="{FF2B5EF4-FFF2-40B4-BE49-F238E27FC236}">
                <a16:creationId xmlns:a16="http://schemas.microsoft.com/office/drawing/2014/main" id="{7A6D1178-A4DE-AB94-20D6-BA2330818406}"/>
              </a:ext>
            </a:extLst>
          </p:cNvPr>
          <p:cNvSpPr/>
          <p:nvPr/>
        </p:nvSpPr>
        <p:spPr>
          <a:xfrm>
            <a:off x="457200" y="1737320"/>
            <a:ext cx="6200000" cy="440000"/>
          </a:xfrm>
          <a:prstGeom prst="rect">
            <a:avLst/>
          </a:prstGeom>
          <a:solidFill>
            <a:schemeClr val="bg1"/>
          </a:solidFill>
          <a:ln>
            <a:solidFill>
              <a:srgbClr val="C9DDF2"/>
            </a:solidFill>
          </a:ln>
        </p:spPr>
      </p:sp>
      <p:sp>
        <p:nvSpPr>
          <p:cNvPr id="17" name="TblDim0">
            <a:extLst>
              <a:ext uri="{FF2B5EF4-FFF2-40B4-BE49-F238E27FC236}">
                <a16:creationId xmlns:a16="http://schemas.microsoft.com/office/drawing/2014/main" id="{34029127-09E2-757D-85D1-FAA28234437E}"/>
              </a:ext>
            </a:extLst>
          </p:cNvPr>
          <p:cNvSpPr txBox="1"/>
          <p:nvPr/>
        </p:nvSpPr>
        <p:spPr>
          <a:xfrm>
            <a:off x="548640" y="1737320"/>
            <a:ext cx="206284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State / Sequence Memory</a:t>
            </a:r>
            <a:endParaRPr lang="en-US" sz="900" dirty="0"/>
          </a:p>
        </p:txBody>
      </p:sp>
      <p:sp>
        <p:nvSpPr>
          <p:cNvPr id="19" name="TblTrad0">
            <a:extLst>
              <a:ext uri="{FF2B5EF4-FFF2-40B4-BE49-F238E27FC236}">
                <a16:creationId xmlns:a16="http://schemas.microsoft.com/office/drawing/2014/main" id="{744C1E31-A63B-A3F6-10C0-B931E0CB232D}"/>
              </a:ext>
            </a:extLst>
          </p:cNvPr>
          <p:cNvSpPr txBox="1"/>
          <p:nvPr/>
        </p:nvSpPr>
        <p:spPr>
          <a:xfrm>
            <a:off x="2657200" y="173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900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None — labels each frame independently</a:t>
            </a:r>
            <a:endParaRPr lang="en-US" sz="900" dirty="0"/>
          </a:p>
        </p:txBody>
      </p:sp>
      <p:sp>
        <p:nvSpPr>
          <p:cNvPr id="21" name="TblPrah0">
            <a:extLst>
              <a:ext uri="{FF2B5EF4-FFF2-40B4-BE49-F238E27FC236}">
                <a16:creationId xmlns:a16="http://schemas.microsoft.com/office/drawing/2014/main" id="{6461C993-889E-78DC-DDCB-3F02863CE360}"/>
              </a:ext>
            </a:extLst>
          </p:cNvPr>
          <p:cNvSpPr txBox="1"/>
          <p:nvPr/>
        </p:nvSpPr>
        <p:spPr>
          <a:xfrm>
            <a:off x="4657200" y="173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Full — FSM validates order &amp; completion</a:t>
            </a:r>
            <a:endParaRPr lang="en-US" sz="900" dirty="0"/>
          </a:p>
        </p:txBody>
      </p:sp>
      <p:cxnSp>
        <p:nvCxnSpPr>
          <p:cNvPr id="23" name="TblRowLine0">
            <a:extLst>
              <a:ext uri="{FF2B5EF4-FFF2-40B4-BE49-F238E27FC236}">
                <a16:creationId xmlns:a16="http://schemas.microsoft.com/office/drawing/2014/main" id="{8E130A21-5E71-2A42-8878-EF259CC4B471}"/>
              </a:ext>
            </a:extLst>
          </p:cNvPr>
          <p:cNvCxnSpPr/>
          <p:nvPr/>
        </p:nvCxnSpPr>
        <p:spPr>
          <a:xfrm>
            <a:off x="457200" y="2177320"/>
            <a:ext cx="6200000" cy="0"/>
          </a:xfrm>
          <a:prstGeom prst="line">
            <a:avLst/>
          </a:prstGeom>
          <a:ln w="9525">
            <a:solidFill>
              <a:srgbClr val="C9DDF2"/>
            </a:solidFill>
          </a:ln>
        </p:spPr>
      </p:cxnSp>
      <p:sp>
        <p:nvSpPr>
          <p:cNvPr id="25" name="TblRowBg1">
            <a:extLst>
              <a:ext uri="{FF2B5EF4-FFF2-40B4-BE49-F238E27FC236}">
                <a16:creationId xmlns:a16="http://schemas.microsoft.com/office/drawing/2014/main" id="{350A3088-356F-B299-1F77-B9019FA5E67B}"/>
              </a:ext>
            </a:extLst>
          </p:cNvPr>
          <p:cNvSpPr/>
          <p:nvPr/>
        </p:nvSpPr>
        <p:spPr>
          <a:xfrm>
            <a:off x="457200" y="2177320"/>
            <a:ext cx="6200000" cy="440000"/>
          </a:xfrm>
          <a:prstGeom prst="rect">
            <a:avLst/>
          </a:prstGeom>
          <a:solidFill>
            <a:schemeClr val="bg1"/>
          </a:solidFill>
          <a:ln>
            <a:solidFill>
              <a:srgbClr val="C9DDF2"/>
            </a:solidFill>
          </a:ln>
        </p:spPr>
      </p:sp>
      <p:sp>
        <p:nvSpPr>
          <p:cNvPr id="26" name="TblDim1">
            <a:extLst>
              <a:ext uri="{FF2B5EF4-FFF2-40B4-BE49-F238E27FC236}">
                <a16:creationId xmlns:a16="http://schemas.microsoft.com/office/drawing/2014/main" id="{A7B3D707-9A00-ADF7-5E8E-DE5E5D786205}"/>
              </a:ext>
            </a:extLst>
          </p:cNvPr>
          <p:cNvSpPr txBox="1"/>
          <p:nvPr/>
        </p:nvSpPr>
        <p:spPr>
          <a:xfrm>
            <a:off x="548640" y="2177320"/>
            <a:ext cx="206284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Unknown Actions</a:t>
            </a:r>
            <a:endParaRPr lang="en-US" sz="900" dirty="0"/>
          </a:p>
        </p:txBody>
      </p:sp>
      <p:sp>
        <p:nvSpPr>
          <p:cNvPr id="27" name="TblTrad1">
            <a:extLst>
              <a:ext uri="{FF2B5EF4-FFF2-40B4-BE49-F238E27FC236}">
                <a16:creationId xmlns:a16="http://schemas.microsoft.com/office/drawing/2014/main" id="{C6764313-CB96-1990-DAC5-CF6C68DEA87C}"/>
              </a:ext>
            </a:extLst>
          </p:cNvPr>
          <p:cNvSpPr txBox="1"/>
          <p:nvPr/>
        </p:nvSpPr>
        <p:spPr>
          <a:xfrm>
            <a:off x="2657200" y="217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900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Force-fit to nearest known class</a:t>
            </a:r>
            <a:endParaRPr lang="en-US" sz="900" dirty="0"/>
          </a:p>
        </p:txBody>
      </p:sp>
      <p:sp>
        <p:nvSpPr>
          <p:cNvPr id="28" name="TblPrah1">
            <a:extLst>
              <a:ext uri="{FF2B5EF4-FFF2-40B4-BE49-F238E27FC236}">
                <a16:creationId xmlns:a16="http://schemas.microsoft.com/office/drawing/2014/main" id="{C9771A79-5C5D-583D-351A-B47883BD3924}"/>
              </a:ext>
            </a:extLst>
          </p:cNvPr>
          <p:cNvSpPr txBox="1"/>
          <p:nvPr/>
        </p:nvSpPr>
        <p:spPr>
          <a:xfrm>
            <a:off x="4657200" y="217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Flagged as unrecognized, not force-fit</a:t>
            </a:r>
            <a:endParaRPr lang="en-US" sz="900" dirty="0"/>
          </a:p>
        </p:txBody>
      </p:sp>
      <p:cxnSp>
        <p:nvCxnSpPr>
          <p:cNvPr id="29" name="TblRowLine1">
            <a:extLst>
              <a:ext uri="{FF2B5EF4-FFF2-40B4-BE49-F238E27FC236}">
                <a16:creationId xmlns:a16="http://schemas.microsoft.com/office/drawing/2014/main" id="{285A7908-E1C6-89A0-0A93-8BFD8A16FA4A}"/>
              </a:ext>
            </a:extLst>
          </p:cNvPr>
          <p:cNvCxnSpPr/>
          <p:nvPr/>
        </p:nvCxnSpPr>
        <p:spPr>
          <a:xfrm>
            <a:off x="457200" y="2617320"/>
            <a:ext cx="6200000" cy="0"/>
          </a:xfrm>
          <a:prstGeom prst="line">
            <a:avLst/>
          </a:prstGeom>
          <a:ln w="9525">
            <a:solidFill>
              <a:srgbClr val="C9DDF2"/>
            </a:solidFill>
          </a:ln>
        </p:spPr>
      </p:cxnSp>
      <p:sp>
        <p:nvSpPr>
          <p:cNvPr id="30" name="TblRowBg2">
            <a:extLst>
              <a:ext uri="{FF2B5EF4-FFF2-40B4-BE49-F238E27FC236}">
                <a16:creationId xmlns:a16="http://schemas.microsoft.com/office/drawing/2014/main" id="{BFBECA33-D620-4071-5453-E465026467D6}"/>
              </a:ext>
            </a:extLst>
          </p:cNvPr>
          <p:cNvSpPr/>
          <p:nvPr/>
        </p:nvSpPr>
        <p:spPr>
          <a:xfrm>
            <a:off x="457200" y="2617320"/>
            <a:ext cx="6200000" cy="440000"/>
          </a:xfrm>
          <a:prstGeom prst="rect">
            <a:avLst/>
          </a:prstGeom>
          <a:solidFill>
            <a:schemeClr val="bg1"/>
          </a:solidFill>
          <a:ln>
            <a:solidFill>
              <a:srgbClr val="C9DDF2"/>
            </a:solidFill>
          </a:ln>
        </p:spPr>
      </p:sp>
      <p:sp>
        <p:nvSpPr>
          <p:cNvPr id="31" name="TblDim2">
            <a:extLst>
              <a:ext uri="{FF2B5EF4-FFF2-40B4-BE49-F238E27FC236}">
                <a16:creationId xmlns:a16="http://schemas.microsoft.com/office/drawing/2014/main" id="{61AEBBCD-3DF5-9489-DA02-E4091A1D9D6D}"/>
              </a:ext>
            </a:extLst>
          </p:cNvPr>
          <p:cNvSpPr txBox="1"/>
          <p:nvPr/>
        </p:nvSpPr>
        <p:spPr>
          <a:xfrm>
            <a:off x="548640" y="2617320"/>
            <a:ext cx="206284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Physical Outcome Check</a:t>
            </a:r>
            <a:endParaRPr lang="en-US" sz="900" dirty="0"/>
          </a:p>
        </p:txBody>
      </p:sp>
      <p:sp>
        <p:nvSpPr>
          <p:cNvPr id="32" name="TblTrad2">
            <a:extLst>
              <a:ext uri="{FF2B5EF4-FFF2-40B4-BE49-F238E27FC236}">
                <a16:creationId xmlns:a16="http://schemas.microsoft.com/office/drawing/2014/main" id="{1AADA563-C034-EEB8-4E58-8447BE7BA514}"/>
              </a:ext>
            </a:extLst>
          </p:cNvPr>
          <p:cNvSpPr txBox="1"/>
          <p:nvPr/>
        </p:nvSpPr>
        <p:spPr>
          <a:xfrm>
            <a:off x="2657200" y="261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900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Not verified — motion only</a:t>
            </a:r>
            <a:endParaRPr lang="en-US" sz="900" dirty="0"/>
          </a:p>
        </p:txBody>
      </p:sp>
      <p:sp>
        <p:nvSpPr>
          <p:cNvPr id="33" name="TblPrah2">
            <a:extLst>
              <a:ext uri="{FF2B5EF4-FFF2-40B4-BE49-F238E27FC236}">
                <a16:creationId xmlns:a16="http://schemas.microsoft.com/office/drawing/2014/main" id="{29E7B8CF-7D56-2FF0-F0AD-BFCC54D5F625}"/>
              </a:ext>
            </a:extLst>
          </p:cNvPr>
          <p:cNvSpPr txBox="1"/>
          <p:nvPr/>
        </p:nvSpPr>
        <p:spPr>
          <a:xfrm>
            <a:off x="4657200" y="261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Cross-checked via instrument readout</a:t>
            </a:r>
            <a:endParaRPr lang="en-US" sz="900" dirty="0"/>
          </a:p>
        </p:txBody>
      </p:sp>
      <p:cxnSp>
        <p:nvCxnSpPr>
          <p:cNvPr id="34" name="TblRowLine2">
            <a:extLst>
              <a:ext uri="{FF2B5EF4-FFF2-40B4-BE49-F238E27FC236}">
                <a16:creationId xmlns:a16="http://schemas.microsoft.com/office/drawing/2014/main" id="{C91DE88B-9D07-5AE1-1429-A8655FEA7D7E}"/>
              </a:ext>
            </a:extLst>
          </p:cNvPr>
          <p:cNvCxnSpPr/>
          <p:nvPr/>
        </p:nvCxnSpPr>
        <p:spPr>
          <a:xfrm>
            <a:off x="457200" y="3057320"/>
            <a:ext cx="6200000" cy="0"/>
          </a:xfrm>
          <a:prstGeom prst="line">
            <a:avLst/>
          </a:prstGeom>
          <a:ln w="9525">
            <a:solidFill>
              <a:srgbClr val="C9DDF2"/>
            </a:solidFill>
          </a:ln>
        </p:spPr>
      </p:cxnSp>
      <p:sp>
        <p:nvSpPr>
          <p:cNvPr id="35" name="TblRowBg3">
            <a:extLst>
              <a:ext uri="{FF2B5EF4-FFF2-40B4-BE49-F238E27FC236}">
                <a16:creationId xmlns:a16="http://schemas.microsoft.com/office/drawing/2014/main" id="{260E6007-276D-0840-A391-768E119CC213}"/>
              </a:ext>
            </a:extLst>
          </p:cNvPr>
          <p:cNvSpPr/>
          <p:nvPr/>
        </p:nvSpPr>
        <p:spPr>
          <a:xfrm>
            <a:off x="457200" y="3057320"/>
            <a:ext cx="6200000" cy="440000"/>
          </a:xfrm>
          <a:prstGeom prst="rect">
            <a:avLst/>
          </a:prstGeom>
          <a:solidFill>
            <a:schemeClr val="bg1"/>
          </a:solidFill>
          <a:ln>
            <a:solidFill>
              <a:srgbClr val="C9DDF2"/>
            </a:solidFill>
          </a:ln>
        </p:spPr>
      </p:sp>
      <p:sp>
        <p:nvSpPr>
          <p:cNvPr id="36" name="TblDim3">
            <a:extLst>
              <a:ext uri="{FF2B5EF4-FFF2-40B4-BE49-F238E27FC236}">
                <a16:creationId xmlns:a16="http://schemas.microsoft.com/office/drawing/2014/main" id="{AD5C1CE8-434B-62E9-319B-C4735C74B767}"/>
              </a:ext>
            </a:extLst>
          </p:cNvPr>
          <p:cNvSpPr txBox="1"/>
          <p:nvPr/>
        </p:nvSpPr>
        <p:spPr>
          <a:xfrm>
            <a:off x="548640" y="3057320"/>
            <a:ext cx="206284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Microgravity Body Tracking</a:t>
            </a:r>
            <a:endParaRPr lang="en-US" sz="900" dirty="0"/>
          </a:p>
        </p:txBody>
      </p:sp>
      <p:sp>
        <p:nvSpPr>
          <p:cNvPr id="37" name="TblTrad3">
            <a:extLst>
              <a:ext uri="{FF2B5EF4-FFF2-40B4-BE49-F238E27FC236}">
                <a16:creationId xmlns:a16="http://schemas.microsoft.com/office/drawing/2014/main" id="{B5338861-E1B1-68BE-884D-58C352C01F8C}"/>
              </a:ext>
            </a:extLst>
          </p:cNvPr>
          <p:cNvSpPr txBox="1"/>
          <p:nvPr/>
        </p:nvSpPr>
        <p:spPr>
          <a:xfrm>
            <a:off x="2657200" y="305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900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Assumes a fixed ‘up’ / floor</a:t>
            </a:r>
            <a:endParaRPr lang="en-US" sz="900" dirty="0"/>
          </a:p>
        </p:txBody>
      </p:sp>
      <p:sp>
        <p:nvSpPr>
          <p:cNvPr id="38" name="TblPrah3">
            <a:extLst>
              <a:ext uri="{FF2B5EF4-FFF2-40B4-BE49-F238E27FC236}">
                <a16:creationId xmlns:a16="http://schemas.microsoft.com/office/drawing/2014/main" id="{71A0D519-07E0-BC50-A35C-85BF6F3A5A8F}"/>
              </a:ext>
            </a:extLst>
          </p:cNvPr>
          <p:cNvSpPr txBox="1"/>
          <p:nvPr/>
        </p:nvSpPr>
        <p:spPr>
          <a:xfrm>
            <a:off x="4657200" y="305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Rack-relative, orientation-agnostic</a:t>
            </a:r>
            <a:endParaRPr lang="en-US" sz="900" dirty="0"/>
          </a:p>
        </p:txBody>
      </p:sp>
      <p:cxnSp>
        <p:nvCxnSpPr>
          <p:cNvPr id="39" name="TblRowLine3">
            <a:extLst>
              <a:ext uri="{FF2B5EF4-FFF2-40B4-BE49-F238E27FC236}">
                <a16:creationId xmlns:a16="http://schemas.microsoft.com/office/drawing/2014/main" id="{D9D22924-E2EC-0298-1EB3-5A1A4448EECF}"/>
              </a:ext>
            </a:extLst>
          </p:cNvPr>
          <p:cNvCxnSpPr/>
          <p:nvPr/>
        </p:nvCxnSpPr>
        <p:spPr>
          <a:xfrm>
            <a:off x="457200" y="3497320"/>
            <a:ext cx="6200000" cy="0"/>
          </a:xfrm>
          <a:prstGeom prst="line">
            <a:avLst/>
          </a:prstGeom>
          <a:ln w="9525">
            <a:solidFill>
              <a:srgbClr val="C9DDF2"/>
            </a:solidFill>
          </a:ln>
        </p:spPr>
      </p:cxnSp>
      <p:sp>
        <p:nvSpPr>
          <p:cNvPr id="40" name="TblRowBg4">
            <a:extLst>
              <a:ext uri="{FF2B5EF4-FFF2-40B4-BE49-F238E27FC236}">
                <a16:creationId xmlns:a16="http://schemas.microsoft.com/office/drawing/2014/main" id="{B5E8AE36-12AB-C58E-2975-DEEC606DF83C}"/>
              </a:ext>
            </a:extLst>
          </p:cNvPr>
          <p:cNvSpPr/>
          <p:nvPr/>
        </p:nvSpPr>
        <p:spPr>
          <a:xfrm>
            <a:off x="457200" y="3497320"/>
            <a:ext cx="6200000" cy="440000"/>
          </a:xfrm>
          <a:prstGeom prst="rect">
            <a:avLst/>
          </a:prstGeom>
          <a:solidFill>
            <a:schemeClr val="bg1"/>
          </a:solidFill>
          <a:ln>
            <a:solidFill>
              <a:srgbClr val="C9DDF2"/>
            </a:solidFill>
          </a:ln>
        </p:spPr>
      </p:sp>
      <p:sp>
        <p:nvSpPr>
          <p:cNvPr id="41" name="TblDim4">
            <a:extLst>
              <a:ext uri="{FF2B5EF4-FFF2-40B4-BE49-F238E27FC236}">
                <a16:creationId xmlns:a16="http://schemas.microsoft.com/office/drawing/2014/main" id="{EEF90A21-8ECC-F5C9-BE67-C01014771240}"/>
              </a:ext>
            </a:extLst>
          </p:cNvPr>
          <p:cNvSpPr txBox="1"/>
          <p:nvPr/>
        </p:nvSpPr>
        <p:spPr>
          <a:xfrm>
            <a:off x="548640" y="3497320"/>
            <a:ext cx="206284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Bandwidth Dependency</a:t>
            </a:r>
            <a:endParaRPr lang="en-US" sz="900" dirty="0"/>
          </a:p>
        </p:txBody>
      </p:sp>
      <p:sp>
        <p:nvSpPr>
          <p:cNvPr id="42" name="TblTrad4">
            <a:extLst>
              <a:ext uri="{FF2B5EF4-FFF2-40B4-BE49-F238E27FC236}">
                <a16:creationId xmlns:a16="http://schemas.microsoft.com/office/drawing/2014/main" id="{BCB8F03D-4F14-7889-5298-A2C7247C335E}"/>
              </a:ext>
            </a:extLst>
          </p:cNvPr>
          <p:cNvSpPr txBox="1"/>
          <p:nvPr/>
        </p:nvSpPr>
        <p:spPr>
          <a:xfrm>
            <a:off x="2657200" y="349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900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Often needs continuous ground review</a:t>
            </a:r>
            <a:endParaRPr lang="en-US" sz="900" dirty="0"/>
          </a:p>
        </p:txBody>
      </p:sp>
      <p:sp>
        <p:nvSpPr>
          <p:cNvPr id="43" name="TblPrah4">
            <a:extLst>
              <a:ext uri="{FF2B5EF4-FFF2-40B4-BE49-F238E27FC236}">
                <a16:creationId xmlns:a16="http://schemas.microsoft.com/office/drawing/2014/main" id="{9248AB63-0E9A-9D58-7E52-F3322ED48DC6}"/>
              </a:ext>
            </a:extLst>
          </p:cNvPr>
          <p:cNvSpPr txBox="1"/>
          <p:nvPr/>
        </p:nvSpPr>
        <p:spPr>
          <a:xfrm>
            <a:off x="4657200" y="349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Event-clips only; loop runs on-board</a:t>
            </a:r>
            <a:endParaRPr lang="en-US" sz="900" dirty="0"/>
          </a:p>
        </p:txBody>
      </p:sp>
      <p:cxnSp>
        <p:nvCxnSpPr>
          <p:cNvPr id="44" name="TblRowLine4">
            <a:extLst>
              <a:ext uri="{FF2B5EF4-FFF2-40B4-BE49-F238E27FC236}">
                <a16:creationId xmlns:a16="http://schemas.microsoft.com/office/drawing/2014/main" id="{8DA977FF-FB46-40C5-BDF8-73AE60940B3C}"/>
              </a:ext>
            </a:extLst>
          </p:cNvPr>
          <p:cNvCxnSpPr/>
          <p:nvPr/>
        </p:nvCxnSpPr>
        <p:spPr>
          <a:xfrm>
            <a:off x="457200" y="3937320"/>
            <a:ext cx="6200000" cy="0"/>
          </a:xfrm>
          <a:prstGeom prst="line">
            <a:avLst/>
          </a:prstGeom>
          <a:ln w="9525">
            <a:solidFill>
              <a:srgbClr val="C9DDF2"/>
            </a:solidFill>
          </a:ln>
        </p:spPr>
      </p:cxnSp>
      <p:sp>
        <p:nvSpPr>
          <p:cNvPr id="45" name="TblRowBg5">
            <a:extLst>
              <a:ext uri="{FF2B5EF4-FFF2-40B4-BE49-F238E27FC236}">
                <a16:creationId xmlns:a16="http://schemas.microsoft.com/office/drawing/2014/main" id="{8BBD1ECF-4BA3-EEA3-1234-D32E392EE6E2}"/>
              </a:ext>
            </a:extLst>
          </p:cNvPr>
          <p:cNvSpPr/>
          <p:nvPr/>
        </p:nvSpPr>
        <p:spPr>
          <a:xfrm>
            <a:off x="457200" y="3937320"/>
            <a:ext cx="6200000" cy="440000"/>
          </a:xfrm>
          <a:prstGeom prst="rect">
            <a:avLst/>
          </a:prstGeom>
          <a:solidFill>
            <a:schemeClr val="bg1"/>
          </a:solidFill>
          <a:ln>
            <a:solidFill>
              <a:srgbClr val="C9DDF2"/>
            </a:solidFill>
          </a:ln>
        </p:spPr>
      </p:sp>
      <p:sp>
        <p:nvSpPr>
          <p:cNvPr id="46" name="TblDim5">
            <a:extLst>
              <a:ext uri="{FF2B5EF4-FFF2-40B4-BE49-F238E27FC236}">
                <a16:creationId xmlns:a16="http://schemas.microsoft.com/office/drawing/2014/main" id="{9EF53D9B-15F1-B41B-48AC-8EC5380C9D11}"/>
              </a:ext>
            </a:extLst>
          </p:cNvPr>
          <p:cNvSpPr txBox="1"/>
          <p:nvPr/>
        </p:nvSpPr>
        <p:spPr>
          <a:xfrm>
            <a:off x="548640" y="3937320"/>
            <a:ext cx="206284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47" name="TblTrad5">
            <a:extLst>
              <a:ext uri="{FF2B5EF4-FFF2-40B4-BE49-F238E27FC236}">
                <a16:creationId xmlns:a16="http://schemas.microsoft.com/office/drawing/2014/main" id="{F3E04F27-AFDC-4E14-0F1F-3692E8485455}"/>
              </a:ext>
            </a:extLst>
          </p:cNvPr>
          <p:cNvSpPr txBox="1"/>
          <p:nvPr/>
        </p:nvSpPr>
        <p:spPr>
          <a:xfrm>
            <a:off x="2657200" y="393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900" dirty="0">
                <a:solidFill>
                  <a:srgbClr val="5B6B82"/>
                </a:solidFill>
                <a:ea typeface="Calibri" pitchFamily="34" charset="-122"/>
                <a:cs typeface="Calibri" pitchFamily="34" charset="-120"/>
              </a:rPr>
              <a:t>Rare / ad-hoc</a:t>
            </a:r>
            <a:endParaRPr lang="en-US" sz="900" dirty="0"/>
          </a:p>
        </p:txBody>
      </p:sp>
      <p:sp>
        <p:nvSpPr>
          <p:cNvPr id="48" name="TblPrah5">
            <a:extLst>
              <a:ext uri="{FF2B5EF4-FFF2-40B4-BE49-F238E27FC236}">
                <a16:creationId xmlns:a16="http://schemas.microsoft.com/office/drawing/2014/main" id="{3C4333D1-A9E4-9F5B-2F28-CA0D6FA8C8DA}"/>
              </a:ext>
            </a:extLst>
          </p:cNvPr>
          <p:cNvSpPr txBox="1"/>
          <p:nvPr/>
        </p:nvSpPr>
        <p:spPr>
          <a:xfrm>
            <a:off x="4657200" y="3937320"/>
            <a:ext cx="19085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Structured, timestamped JSON-Lines log</a:t>
            </a:r>
            <a:endParaRPr lang="en-US" sz="900" dirty="0"/>
          </a:p>
        </p:txBody>
      </p:sp>
      <p:cxnSp>
        <p:nvCxnSpPr>
          <p:cNvPr id="49" name="TblRowLine5">
            <a:extLst>
              <a:ext uri="{FF2B5EF4-FFF2-40B4-BE49-F238E27FC236}">
                <a16:creationId xmlns:a16="http://schemas.microsoft.com/office/drawing/2014/main" id="{C77EFEB1-C254-3C47-AF1A-9E31A3D9AC43}"/>
              </a:ext>
            </a:extLst>
          </p:cNvPr>
          <p:cNvCxnSpPr/>
          <p:nvPr/>
        </p:nvCxnSpPr>
        <p:spPr>
          <a:xfrm>
            <a:off x="457200" y="4377320"/>
            <a:ext cx="6200000" cy="0"/>
          </a:xfrm>
          <a:prstGeom prst="line">
            <a:avLst/>
          </a:prstGeom>
          <a:ln w="9525">
            <a:solidFill>
              <a:srgbClr val="C9DDF2"/>
            </a:solidFill>
          </a:ln>
        </p:spPr>
      </p:cxnSp>
      <p:sp>
        <p:nvSpPr>
          <p:cNvPr id="53" name="BenefitCard0">
            <a:extLst>
              <a:ext uri="{FF2B5EF4-FFF2-40B4-BE49-F238E27FC236}">
                <a16:creationId xmlns:a16="http://schemas.microsoft.com/office/drawing/2014/main" id="{0E9269BB-2B9D-1C15-1EA9-17AB47FB7C96}"/>
              </a:ext>
            </a:extLst>
          </p:cNvPr>
          <p:cNvSpPr/>
          <p:nvPr/>
        </p:nvSpPr>
        <p:spPr>
          <a:xfrm>
            <a:off x="457200" y="4817318"/>
            <a:ext cx="3667760" cy="1310001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54" name="BenefitCircle0">
            <a:extLst>
              <a:ext uri="{FF2B5EF4-FFF2-40B4-BE49-F238E27FC236}">
                <a16:creationId xmlns:a16="http://schemas.microsoft.com/office/drawing/2014/main" id="{A28E7E37-1BA4-DC2E-926B-5DD296D8B407}"/>
              </a:ext>
            </a:extLst>
          </p:cNvPr>
          <p:cNvSpPr/>
          <p:nvPr/>
        </p:nvSpPr>
        <p:spPr>
          <a:xfrm>
            <a:off x="594360" y="4937318"/>
            <a:ext cx="420000" cy="420000"/>
          </a:xfrm>
          <a:prstGeom prst="ellipse">
            <a:avLst/>
          </a:prstGeom>
          <a:solidFill>
            <a:schemeClr val="accent6">
              <a:lumMod val="75000"/>
              <a:alpha val="75000"/>
            </a:schemeClr>
          </a:solidFill>
          <a:ln/>
        </p:spPr>
      </p:sp>
      <p:pic>
        <p:nvPicPr>
          <p:cNvPr id="55" name="BenefitIcon0">
            <a:extLst>
              <a:ext uri="{FF2B5EF4-FFF2-40B4-BE49-F238E27FC236}">
                <a16:creationId xmlns:a16="http://schemas.microsoft.com/office/drawing/2014/main" id="{D0BFB563-371C-865F-770C-D75D43DF0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60" y="5046518"/>
            <a:ext cx="201600" cy="201600"/>
          </a:xfrm>
          <a:prstGeom prst="rect">
            <a:avLst/>
          </a:prstGeom>
        </p:spPr>
      </p:pic>
      <p:sp>
        <p:nvSpPr>
          <p:cNvPr id="56" name="BenefitTitle0">
            <a:extLst>
              <a:ext uri="{FF2B5EF4-FFF2-40B4-BE49-F238E27FC236}">
                <a16:creationId xmlns:a16="http://schemas.microsoft.com/office/drawing/2014/main" id="{F9CF4869-39FF-F6BE-F90D-0B0C0FAAE7C6}"/>
              </a:ext>
            </a:extLst>
          </p:cNvPr>
          <p:cNvSpPr txBox="1"/>
          <p:nvPr/>
        </p:nvSpPr>
        <p:spPr>
          <a:xfrm>
            <a:off x="1134360" y="4937318"/>
            <a:ext cx="28534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Mission / Economic</a:t>
            </a:r>
            <a:endParaRPr lang="en-US" sz="1200" dirty="0"/>
          </a:p>
        </p:txBody>
      </p:sp>
      <p:sp>
        <p:nvSpPr>
          <p:cNvPr id="57" name="BenefitDesc0">
            <a:extLst>
              <a:ext uri="{FF2B5EF4-FFF2-40B4-BE49-F238E27FC236}">
                <a16:creationId xmlns:a16="http://schemas.microsoft.com/office/drawing/2014/main" id="{8FFDCA3F-BDAB-3BBC-E021-9DDDB0E9BCAC}"/>
              </a:ext>
            </a:extLst>
          </p:cNvPr>
          <p:cNvSpPr txBox="1"/>
          <p:nvPr/>
        </p:nvSpPr>
        <p:spPr>
          <a:xfrm>
            <a:off x="594360" y="5437318"/>
            <a:ext cx="3393440" cy="63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7160" indent="-137160" algn="l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b="0" i="0" dirty="0">
                <a:solidFill>
                  <a:srgbClr val="4A5A72"/>
                </a:solidFill>
                <a:latin typeface="Calibri"/>
                <a:cs typeface="Calibri"/>
              </a:rPr>
              <a:t>Errors caught mid-run, before a run is compromised</a:t>
            </a:r>
          </a:p>
          <a:p>
            <a:pPr marL="137160" indent="-137160" algn="l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b="0" i="0" dirty="0">
                <a:solidFill>
                  <a:srgbClr val="4A5A72"/>
                </a:solidFill>
                <a:latin typeface="Calibri"/>
                <a:cs typeface="Calibri"/>
              </a:rPr>
              <a:t>Fewer repeated or invalidated experiment runs</a:t>
            </a:r>
          </a:p>
          <a:p>
            <a:pPr marL="137160" indent="-137160" algn="l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b="0" i="0" dirty="0">
                <a:solidFill>
                  <a:srgbClr val="4A5A72"/>
                </a:solidFill>
                <a:latin typeface="Calibri"/>
                <a:cs typeface="Calibri"/>
              </a:rPr>
              <a:t>Less reliance on high-bandwidth ground links</a:t>
            </a:r>
          </a:p>
        </p:txBody>
      </p:sp>
      <p:sp>
        <p:nvSpPr>
          <p:cNvPr id="58" name="BenefitCard1">
            <a:extLst>
              <a:ext uri="{FF2B5EF4-FFF2-40B4-BE49-F238E27FC236}">
                <a16:creationId xmlns:a16="http://schemas.microsoft.com/office/drawing/2014/main" id="{D351E962-A031-C91A-D8C9-90DEF9F5EB68}"/>
              </a:ext>
            </a:extLst>
          </p:cNvPr>
          <p:cNvSpPr/>
          <p:nvPr/>
        </p:nvSpPr>
        <p:spPr>
          <a:xfrm>
            <a:off x="4262120" y="4817318"/>
            <a:ext cx="3667760" cy="1310001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59" name="BenefitCircle1">
            <a:extLst>
              <a:ext uri="{FF2B5EF4-FFF2-40B4-BE49-F238E27FC236}">
                <a16:creationId xmlns:a16="http://schemas.microsoft.com/office/drawing/2014/main" id="{BDA127DA-3E1E-E05E-3544-C4F8EB4A64E0}"/>
              </a:ext>
            </a:extLst>
          </p:cNvPr>
          <p:cNvSpPr/>
          <p:nvPr/>
        </p:nvSpPr>
        <p:spPr>
          <a:xfrm>
            <a:off x="4399280" y="4937318"/>
            <a:ext cx="420000" cy="420000"/>
          </a:xfrm>
          <a:prstGeom prst="ellipse">
            <a:avLst/>
          </a:prstGeom>
          <a:solidFill>
            <a:srgbClr val="0070C0">
              <a:alpha val="75000"/>
            </a:srgbClr>
          </a:solidFill>
          <a:ln/>
        </p:spPr>
      </p:sp>
      <p:pic>
        <p:nvPicPr>
          <p:cNvPr id="60" name="BenefitIcon1">
            <a:extLst>
              <a:ext uri="{FF2B5EF4-FFF2-40B4-BE49-F238E27FC236}">
                <a16:creationId xmlns:a16="http://schemas.microsoft.com/office/drawing/2014/main" id="{14851A6C-4745-C44F-7AFE-9BAF2B1A9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480" y="5046518"/>
            <a:ext cx="201600" cy="201600"/>
          </a:xfrm>
          <a:prstGeom prst="rect">
            <a:avLst/>
          </a:prstGeom>
        </p:spPr>
      </p:pic>
      <p:sp>
        <p:nvSpPr>
          <p:cNvPr id="61" name="BenefitTitle1">
            <a:extLst>
              <a:ext uri="{FF2B5EF4-FFF2-40B4-BE49-F238E27FC236}">
                <a16:creationId xmlns:a16="http://schemas.microsoft.com/office/drawing/2014/main" id="{A59417FB-279E-8A69-3D7D-F838F17B3BD4}"/>
              </a:ext>
            </a:extLst>
          </p:cNvPr>
          <p:cNvSpPr txBox="1"/>
          <p:nvPr/>
        </p:nvSpPr>
        <p:spPr>
          <a:xfrm>
            <a:off x="4939280" y="4937318"/>
            <a:ext cx="28534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Scientific / Social</a:t>
            </a:r>
            <a:endParaRPr lang="en-US" sz="1200" dirty="0"/>
          </a:p>
        </p:txBody>
      </p:sp>
      <p:sp>
        <p:nvSpPr>
          <p:cNvPr id="62" name="BenefitDesc1">
            <a:extLst>
              <a:ext uri="{FF2B5EF4-FFF2-40B4-BE49-F238E27FC236}">
                <a16:creationId xmlns:a16="http://schemas.microsoft.com/office/drawing/2014/main" id="{D99A9F5A-41BA-DF0D-F0BD-0C40E0D888A9}"/>
              </a:ext>
            </a:extLst>
          </p:cNvPr>
          <p:cNvSpPr txBox="1"/>
          <p:nvPr/>
        </p:nvSpPr>
        <p:spPr>
          <a:xfrm>
            <a:off x="4399280" y="5437318"/>
            <a:ext cx="3393440" cy="63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7160" indent="-137160" algn="l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b="0" i="0" dirty="0">
                <a:solidFill>
                  <a:srgbClr val="4A5A72"/>
                </a:solidFill>
                <a:latin typeface="Calibri"/>
                <a:cs typeface="Calibri"/>
              </a:rPr>
              <a:t>More reliable protocols for time-critical experiments</a:t>
            </a:r>
          </a:p>
          <a:p>
            <a:pPr marL="137160" indent="-137160" algn="l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b="0" i="0" dirty="0">
                <a:solidFill>
                  <a:srgbClr val="4A5A72"/>
                </a:solidFill>
                <a:latin typeface="Calibri"/>
                <a:cs typeface="Calibri"/>
              </a:rPr>
              <a:t>Lower cognitive load via live next-step prompts</a:t>
            </a:r>
          </a:p>
          <a:p>
            <a:pPr marL="137160" indent="-137160" algn="l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b="0" i="0" dirty="0">
                <a:solidFill>
                  <a:srgbClr val="4A5A72"/>
                </a:solidFill>
                <a:latin typeface="Calibri"/>
                <a:cs typeface="Calibri"/>
              </a:rPr>
              <a:t>Astronaut can question a verdict or log an override</a:t>
            </a:r>
          </a:p>
        </p:txBody>
      </p:sp>
      <p:sp>
        <p:nvSpPr>
          <p:cNvPr id="63" name="BenefitCircle2">
            <a:extLst>
              <a:ext uri="{FF2B5EF4-FFF2-40B4-BE49-F238E27FC236}">
                <a16:creationId xmlns:a16="http://schemas.microsoft.com/office/drawing/2014/main" id="{A60F7D9D-7ACE-6879-3709-ED48CE553692}"/>
              </a:ext>
            </a:extLst>
          </p:cNvPr>
          <p:cNvSpPr/>
          <p:nvPr/>
        </p:nvSpPr>
        <p:spPr>
          <a:xfrm>
            <a:off x="8204200" y="4937318"/>
            <a:ext cx="420000" cy="420000"/>
          </a:xfrm>
          <a:prstGeom prst="ellipse">
            <a:avLst/>
          </a:prstGeom>
          <a:solidFill>
            <a:schemeClr val="accent3">
              <a:lumMod val="75000"/>
              <a:alpha val="90000"/>
            </a:schemeClr>
          </a:solidFill>
          <a:ln/>
        </p:spPr>
      </p:sp>
      <p:pic>
        <p:nvPicPr>
          <p:cNvPr id="64" name="BenefitIcon2">
            <a:extLst>
              <a:ext uri="{FF2B5EF4-FFF2-40B4-BE49-F238E27FC236}">
                <a16:creationId xmlns:a16="http://schemas.microsoft.com/office/drawing/2014/main" id="{7EF83A35-E878-E6AE-0797-FCF8982176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3400" y="5046518"/>
            <a:ext cx="201600" cy="201600"/>
          </a:xfrm>
          <a:prstGeom prst="rect">
            <a:avLst/>
          </a:prstGeom>
        </p:spPr>
      </p:pic>
      <p:sp>
        <p:nvSpPr>
          <p:cNvPr id="65" name="BenefitDesc2">
            <a:extLst>
              <a:ext uri="{FF2B5EF4-FFF2-40B4-BE49-F238E27FC236}">
                <a16:creationId xmlns:a16="http://schemas.microsoft.com/office/drawing/2014/main" id="{0FCF00CA-4C68-B5B4-DE85-B15EC646F8A8}"/>
              </a:ext>
            </a:extLst>
          </p:cNvPr>
          <p:cNvSpPr txBox="1"/>
          <p:nvPr/>
        </p:nvSpPr>
        <p:spPr>
          <a:xfrm>
            <a:off x="8204200" y="5437318"/>
            <a:ext cx="3393440" cy="63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7160" indent="-137160" algn="l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b="0" i="0" dirty="0">
                <a:solidFill>
                  <a:srgbClr val="4A5A72"/>
                </a:solidFill>
                <a:latin typeface="Calibri"/>
                <a:cs typeface="Calibri"/>
              </a:rPr>
              <a:t>Reusable for any camera-observable, step-based task</a:t>
            </a:r>
          </a:p>
          <a:p>
            <a:pPr marL="137160" indent="-137160" algn="l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b="0" i="0" dirty="0">
                <a:solidFill>
                  <a:srgbClr val="4A5A72"/>
                </a:solidFill>
                <a:latin typeface="Calibri"/>
                <a:cs typeface="Calibri"/>
              </a:rPr>
              <a:t>New experiment = new YAML/JSON file, no retraining</a:t>
            </a:r>
          </a:p>
          <a:p>
            <a:pPr marL="137160" indent="-137160" algn="l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000" b="0" i="0" dirty="0">
                <a:solidFill>
                  <a:srgbClr val="4A5A72"/>
                </a:solidFill>
                <a:latin typeface="Calibri"/>
                <a:cs typeface="Calibri"/>
              </a:rPr>
              <a:t>Every flag is explainable: expected vs. observed</a:t>
            </a:r>
          </a:p>
        </p:txBody>
      </p:sp>
      <p:sp>
        <p:nvSpPr>
          <p:cNvPr id="71" name="Oval 70" descr="Your startup LOGO">
            <a:extLst>
              <a:ext uri="{FF2B5EF4-FFF2-40B4-BE49-F238E27FC236}">
                <a16:creationId xmlns:a16="http://schemas.microsoft.com/office/drawing/2014/main" id="{4A98423B-00A7-A8D8-5908-354B82D912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5454" y="15027"/>
            <a:ext cx="1192908" cy="73655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TARS-X</a:t>
            </a:r>
            <a:endParaRPr lang="en-IN" dirty="0"/>
          </a:p>
        </p:txBody>
      </p:sp>
      <p:sp>
        <p:nvSpPr>
          <p:cNvPr id="3" name="TableHeader">
            <a:extLst>
              <a:ext uri="{FF2B5EF4-FFF2-40B4-BE49-F238E27FC236}">
                <a16:creationId xmlns:a16="http://schemas.microsoft.com/office/drawing/2014/main" id="{917C1327-1CCB-00AF-6A1D-F7DBCC042A61}"/>
              </a:ext>
            </a:extLst>
          </p:cNvPr>
          <p:cNvSpPr txBox="1"/>
          <p:nvPr/>
        </p:nvSpPr>
        <p:spPr>
          <a:xfrm>
            <a:off x="457200" y="4497875"/>
            <a:ext cx="62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1200" dirty="0"/>
          </a:p>
        </p:txBody>
      </p:sp>
      <p:sp>
        <p:nvSpPr>
          <p:cNvPr id="104" name="SlideTitleBox"/>
          <p:cNvSpPr/>
          <p:nvPr/>
        </p:nvSpPr>
        <p:spPr>
          <a:xfrm>
            <a:off x="4200000" y="159591"/>
            <a:ext cx="3300000" cy="615982"/>
          </a:xfrm>
          <a:prstGeom prst="rect">
            <a:avLst/>
          </a:prstGeom>
          <a:solidFill>
            <a:srgbClr val="D6E7F8"/>
          </a:solidFill>
          <a:ln w="57150" cmpd="dbl">
            <a:solidFill>
              <a:srgbClr val="0B3D75"/>
            </a:solidFill>
            <a:miter lim="800000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en-US" sz="1600" b="1" i="0" dirty="0">
                <a:solidFill>
                  <a:srgbClr val="0B1F3A"/>
                </a:solidFill>
                <a:latin typeface="Arial"/>
                <a:cs typeface="Arial"/>
              </a:rPr>
              <a:t>IMPACT AND BENEFITS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CCED8C0-CC95-A2A0-ACE6-FEC616EC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ChartHeader">
            <a:extLst>
              <a:ext uri="{FF2B5EF4-FFF2-40B4-BE49-F238E27FC236}">
                <a16:creationId xmlns:a16="http://schemas.microsoft.com/office/drawing/2014/main" id="{4FEAFA04-6EE3-3B5A-7C5B-75E6B2B27D26}"/>
              </a:ext>
            </a:extLst>
          </p:cNvPr>
          <p:cNvSpPr txBox="1"/>
          <p:nvPr/>
        </p:nvSpPr>
        <p:spPr>
          <a:xfrm>
            <a:off x="6885800" y="1051560"/>
            <a:ext cx="484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B3D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NETWORK PAYLOAD PER EXPERIMENT HOUR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  <p:graphicFrame>
        <p:nvGraphicFramePr>
          <p:cNvPr id="20" name="PerfChart">
            <a:extLst>
              <a:ext uri="{FF2B5EF4-FFF2-40B4-BE49-F238E27FC236}">
                <a16:creationId xmlns:a16="http://schemas.microsoft.com/office/drawing/2014/main" id="{E52A45B4-A75E-6028-B878-2D98882E7E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6619160"/>
              </p:ext>
            </p:extLst>
          </p:nvPr>
        </p:nvGraphicFramePr>
        <p:xfrm>
          <a:off x="6885800" y="1417319"/>
          <a:ext cx="4849000" cy="2602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ChartCaption">
            <a:extLst>
              <a:ext uri="{FF2B5EF4-FFF2-40B4-BE49-F238E27FC236}">
                <a16:creationId xmlns:a16="http://schemas.microsoft.com/office/drawing/2014/main" id="{4E15CB0F-79B0-54D4-BEF4-0DC363439A11}"/>
              </a:ext>
            </a:extLst>
          </p:cNvPr>
          <p:cNvSpPr txBox="1"/>
          <p:nvPr/>
        </p:nvSpPr>
        <p:spPr>
          <a:xfrm>
            <a:off x="6885800" y="4066041"/>
            <a:ext cx="4849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bandwidth offload comparison: Edge processing vs. ground-dependent raw video telemetry.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AE8B265D-E80E-DE90-70FE-C9F7A8948B29}"/>
              </a:ext>
            </a:extLst>
          </p:cNvPr>
          <p:cNvSpPr/>
          <p:nvPr/>
        </p:nvSpPr>
        <p:spPr>
          <a:xfrm>
            <a:off x="5270090" y="1188720"/>
            <a:ext cx="6461662" cy="36576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23FC969-0C90-38AA-F9D8-87FF71697866}"/>
              </a:ext>
            </a:extLst>
          </p:cNvPr>
          <p:cNvSpPr txBox="1"/>
          <p:nvPr/>
        </p:nvSpPr>
        <p:spPr>
          <a:xfrm>
            <a:off x="5309411" y="1224608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9A7F697-9B3C-1A1B-D380-7C82C9EF27AD}"/>
              </a:ext>
            </a:extLst>
          </p:cNvPr>
          <p:cNvSpPr txBox="1"/>
          <p:nvPr/>
        </p:nvSpPr>
        <p:spPr>
          <a:xfrm>
            <a:off x="5676880" y="1239012"/>
            <a:ext cx="596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Earth: Understanding Human Actions and Scenes in Microgravity Environments (MicroG-4M benchmark)</a:t>
            </a:r>
            <a:endParaRPr lang="en-US" sz="95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0CC3B263-243A-EFC5-A9CD-EA3B92C43D0D}"/>
              </a:ext>
            </a:extLst>
          </p:cNvPr>
          <p:cNvSpPr txBox="1"/>
          <p:nvPr/>
        </p:nvSpPr>
        <p:spPr>
          <a:xfrm>
            <a:off x="5676880" y="1389888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arXiv:2506.02845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https://arxiv.org/abs/2506.02845</a:t>
            </a:r>
            <a:endParaRPr lang="en-US" sz="85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0BAC8DD4-AB97-51DD-2491-44219DE7EF8A}"/>
              </a:ext>
            </a:extLst>
          </p:cNvPr>
          <p:cNvSpPr/>
          <p:nvPr/>
        </p:nvSpPr>
        <p:spPr>
          <a:xfrm>
            <a:off x="5270090" y="1591056"/>
            <a:ext cx="6461662" cy="36576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D79B94BE-B294-EF08-A1B9-3BD3EC1047ED}"/>
              </a:ext>
            </a:extLst>
          </p:cNvPr>
          <p:cNvSpPr txBox="1"/>
          <p:nvPr/>
        </p:nvSpPr>
        <p:spPr>
          <a:xfrm>
            <a:off x="5309411" y="1626944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7930D5BE-2B73-3C2E-753B-077753050A51}"/>
              </a:ext>
            </a:extLst>
          </p:cNvPr>
          <p:cNvSpPr txBox="1"/>
          <p:nvPr/>
        </p:nvSpPr>
        <p:spPr>
          <a:xfrm>
            <a:off x="5676880" y="1641348"/>
            <a:ext cx="596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PhysAstro-Pose: Physics-Inspired Semi-Supervised Human Pose Estimation in Microgravity Environments</a:t>
            </a:r>
            <a:endParaRPr lang="en-US" sz="95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51949044-1CBD-03F8-63E4-4C9617E0FC6A}"/>
              </a:ext>
            </a:extLst>
          </p:cNvPr>
          <p:cNvSpPr txBox="1"/>
          <p:nvPr/>
        </p:nvSpPr>
        <p:spPr>
          <a:xfrm>
            <a:off x="5676880" y="1792224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2026, 26(11), 3406 (MDPI)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https://www.mdpi.com/1424-8220/26/11/3406</a:t>
            </a:r>
            <a:endParaRPr lang="en-US" sz="850" dirty="0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169CA473-6506-0FE2-0FAA-18D54C24F40F}"/>
              </a:ext>
            </a:extLst>
          </p:cNvPr>
          <p:cNvSpPr/>
          <p:nvPr/>
        </p:nvSpPr>
        <p:spPr>
          <a:xfrm>
            <a:off x="5270090" y="1993392"/>
            <a:ext cx="6461662" cy="36576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831BA1C9-3759-074D-2DD0-0602B5BFE487}"/>
              </a:ext>
            </a:extLst>
          </p:cNvPr>
          <p:cNvSpPr txBox="1"/>
          <p:nvPr/>
        </p:nvSpPr>
        <p:spPr>
          <a:xfrm>
            <a:off x="5309411" y="2029280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614CEDDA-A691-5692-842B-D9FB9ABBD006}"/>
              </a:ext>
            </a:extLst>
          </p:cNvPr>
          <p:cNvSpPr txBox="1"/>
          <p:nvPr/>
        </p:nvSpPr>
        <p:spPr>
          <a:xfrm>
            <a:off x="5676880" y="2043684"/>
            <a:ext cx="596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Task and 3D Suit Pose Recognition from Video</a:t>
            </a:r>
            <a:endParaRPr lang="en-US" sz="95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A33F476D-DC63-5B68-E426-806C223A0021}"/>
              </a:ext>
            </a:extLst>
          </p:cNvPr>
          <p:cNvSpPr txBox="1"/>
          <p:nvPr/>
        </p:nvSpPr>
        <p:spPr>
          <a:xfrm>
            <a:off x="5676880" y="2194560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Technical Reports Server, 2023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https://ntrs.nasa.gov/citations/20230000574</a:t>
            </a:r>
            <a:endParaRPr lang="en-US" sz="850" dirty="0"/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AAAA5325-EFF6-CFF1-D9CA-9227BF1084CD}"/>
              </a:ext>
            </a:extLst>
          </p:cNvPr>
          <p:cNvSpPr/>
          <p:nvPr/>
        </p:nvSpPr>
        <p:spPr>
          <a:xfrm>
            <a:off x="5270090" y="2395728"/>
            <a:ext cx="6461662" cy="36576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EA6911A3-920C-1648-4BE6-C1E5E917CDB5}"/>
              </a:ext>
            </a:extLst>
          </p:cNvPr>
          <p:cNvSpPr txBox="1"/>
          <p:nvPr/>
        </p:nvSpPr>
        <p:spPr>
          <a:xfrm>
            <a:off x="5309411" y="2431616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922A3329-C192-9BE2-8D07-36F76784BD25}"/>
              </a:ext>
            </a:extLst>
          </p:cNvPr>
          <p:cNvSpPr txBox="1"/>
          <p:nvPr/>
        </p:nvSpPr>
        <p:spPr>
          <a:xfrm>
            <a:off x="5676880" y="2446020"/>
            <a:ext cx="596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person-following nanosatellite for in-cabin astronaut assistance: deep-learning-based astronaut visual tracking</a:t>
            </a:r>
            <a:endParaRPr lang="en-US" sz="950" dirty="0"/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E126BFC2-A385-AF8E-6327-C83D3315C787}"/>
              </a:ext>
            </a:extLst>
          </p:cNvPr>
          <p:cNvSpPr txBox="1"/>
          <p:nvPr/>
        </p:nvSpPr>
        <p:spPr>
          <a:xfrm>
            <a:off x="5676880" y="2596896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Astronautica, ScienceDirect, 2019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https://www.sciencedirect.com/science/article/abs/pii/S0094576519300025</a:t>
            </a:r>
            <a:endParaRPr lang="en-US" sz="850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75747940-2318-B346-092B-C443D533B278}"/>
              </a:ext>
            </a:extLst>
          </p:cNvPr>
          <p:cNvSpPr/>
          <p:nvPr/>
        </p:nvSpPr>
        <p:spPr>
          <a:xfrm>
            <a:off x="5270090" y="2798064"/>
            <a:ext cx="6461662" cy="530352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30C15145-B01F-591A-E9C9-F1164C63515F}"/>
              </a:ext>
            </a:extLst>
          </p:cNvPr>
          <p:cNvSpPr txBox="1"/>
          <p:nvPr/>
        </p:nvSpPr>
        <p:spPr>
          <a:xfrm>
            <a:off x="5309411" y="2916248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7CC34A77-D2C3-738D-229E-653A7E508258}"/>
              </a:ext>
            </a:extLst>
          </p:cNvPr>
          <p:cNvSpPr txBox="1"/>
          <p:nvPr/>
        </p:nvSpPr>
        <p:spPr>
          <a:xfrm>
            <a:off x="5676880" y="2843784"/>
            <a:ext cx="596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CholecTriplet2021: A Benchmark Challenge for Surgical Action Triplet Recognition </a:t>
            </a:r>
          </a:p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(instrument–verb–target detection, analogous to hand-object step validation)</a:t>
            </a:r>
            <a:endParaRPr lang="en-US" sz="950" dirty="0"/>
          </a:p>
        </p:txBody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C11A50F0-6B97-BCBE-76E4-E200493DAF55}"/>
              </a:ext>
            </a:extLst>
          </p:cNvPr>
          <p:cNvSpPr txBox="1"/>
          <p:nvPr/>
        </p:nvSpPr>
        <p:spPr>
          <a:xfrm>
            <a:off x="5676880" y="3145536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arXiv:2204.04746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https://arxiv.org/abs/2204.04746</a:t>
            </a:r>
            <a:endParaRPr lang="en-US" sz="85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BFB64A27-1F8D-119E-FCB8-6CE7B49476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138" y="1501"/>
            <a:ext cx="1709797" cy="807334"/>
          </a:xfrm>
          <a:prstGeom prst="rect">
            <a:avLst/>
          </a:prstGeom>
        </p:spPr>
      </p:pic>
      <p:sp>
        <p:nvSpPr>
          <p:cNvPr id="60" name="Oval 59" descr="Your startup LOGO">
            <a:extLst>
              <a:ext uri="{FF2B5EF4-FFF2-40B4-BE49-F238E27FC236}">
                <a16:creationId xmlns:a16="http://schemas.microsoft.com/office/drawing/2014/main" id="{22EECD50-B822-DC2C-51ED-B1975603BC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5454" y="15027"/>
            <a:ext cx="1192908" cy="73655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TARS-X</a:t>
            </a:r>
            <a:endParaRPr lang="en-IN" dirty="0"/>
          </a:p>
        </p:txBody>
      </p:sp>
      <p:sp>
        <p:nvSpPr>
          <p:cNvPr id="17410" name="Shape 25"/>
          <p:cNvSpPr/>
          <p:nvPr/>
        </p:nvSpPr>
        <p:spPr>
          <a:xfrm>
            <a:off x="5270090" y="3364992"/>
            <a:ext cx="6461662" cy="36576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412" name="Text 27"/>
          <p:cNvSpPr txBox="1"/>
          <p:nvPr/>
        </p:nvSpPr>
        <p:spPr>
          <a:xfrm>
            <a:off x="5309411" y="3400880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413" name="Text 28"/>
          <p:cNvSpPr txBox="1"/>
          <p:nvPr/>
        </p:nvSpPr>
        <p:spPr>
          <a:xfrm>
            <a:off x="5676880" y="3415284"/>
            <a:ext cx="596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Reality and Multimodal Interfaces for Astronaut Training and In-Orbit Operations</a:t>
            </a:r>
            <a:endParaRPr lang="en-US" sz="950" dirty="0"/>
          </a:p>
        </p:txBody>
      </p:sp>
      <p:sp>
        <p:nvSpPr>
          <p:cNvPr id="17414" name="Text 29"/>
          <p:cNvSpPr txBox="1"/>
          <p:nvPr/>
        </p:nvSpPr>
        <p:spPr>
          <a:xfrm>
            <a:off x="5676880" y="3566160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Technical Paper 2026-26-0796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https://saemobilus.sae.org/papers/augmented-reality-multimodal-interfaces-…-2026-26-0796</a:t>
            </a:r>
            <a:endParaRPr lang="en-US" sz="850" dirty="0"/>
          </a:p>
        </p:txBody>
      </p:sp>
      <p:sp>
        <p:nvSpPr>
          <p:cNvPr id="17415" name="Shape 25"/>
          <p:cNvSpPr/>
          <p:nvPr/>
        </p:nvSpPr>
        <p:spPr>
          <a:xfrm>
            <a:off x="5270090" y="3767328"/>
            <a:ext cx="6461662" cy="36576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417" name="Text 27"/>
          <p:cNvSpPr txBox="1"/>
          <p:nvPr/>
        </p:nvSpPr>
        <p:spPr>
          <a:xfrm>
            <a:off x="5309411" y="3803216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7418" name="Text 28"/>
          <p:cNvSpPr txBox="1"/>
          <p:nvPr/>
        </p:nvSpPr>
        <p:spPr>
          <a:xfrm>
            <a:off x="5676880" y="3817620"/>
            <a:ext cx="596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µPose: Synthetic Dataset for Human Pose Estimation in Microgravity Environments</a:t>
            </a:r>
            <a:endParaRPr lang="en-US" sz="950" dirty="0"/>
          </a:p>
        </p:txBody>
      </p:sp>
      <p:sp>
        <p:nvSpPr>
          <p:cNvPr id="17419" name="Text 29"/>
          <p:cNvSpPr txBox="1"/>
          <p:nvPr/>
        </p:nvSpPr>
        <p:spPr>
          <a:xfrm>
            <a:off x="5676880" y="3968496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CAI 2024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https://ieeecai.org/2024/wp-content/pdfs/540900b558/540900b558.pdf</a:t>
            </a:r>
            <a:endParaRPr lang="en-US" sz="850" dirty="0"/>
          </a:p>
        </p:txBody>
      </p:sp>
      <p:sp>
        <p:nvSpPr>
          <p:cNvPr id="17420" name="Shape 25"/>
          <p:cNvSpPr/>
          <p:nvPr/>
        </p:nvSpPr>
        <p:spPr>
          <a:xfrm>
            <a:off x="5270090" y="4169664"/>
            <a:ext cx="6461662" cy="36576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422" name="Text 27"/>
          <p:cNvSpPr txBox="1"/>
          <p:nvPr/>
        </p:nvSpPr>
        <p:spPr>
          <a:xfrm>
            <a:off x="5309411" y="4205552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7423" name="Text 28"/>
          <p:cNvSpPr txBox="1"/>
          <p:nvPr/>
        </p:nvSpPr>
        <p:spPr>
          <a:xfrm>
            <a:off x="5676880" y="4219956"/>
            <a:ext cx="596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Task Graph Learning: Procedural Activity Representation and Online Mistake Detection from Egocentric Videos</a:t>
            </a:r>
            <a:endParaRPr lang="en-US" sz="950" dirty="0"/>
          </a:p>
        </p:txBody>
      </p:sp>
      <p:sp>
        <p:nvSpPr>
          <p:cNvPr id="17424" name="Text 29"/>
          <p:cNvSpPr txBox="1"/>
          <p:nvPr/>
        </p:nvSpPr>
        <p:spPr>
          <a:xfrm>
            <a:off x="6079998" y="4380664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2024 (Spotlight)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https://arxiv.org/abs/2406.01486</a:t>
            </a: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850" dirty="0"/>
          </a:p>
        </p:txBody>
      </p:sp>
      <p:sp>
        <p:nvSpPr>
          <p:cNvPr id="17425" name="Shape 25"/>
          <p:cNvSpPr/>
          <p:nvPr/>
        </p:nvSpPr>
        <p:spPr>
          <a:xfrm>
            <a:off x="5270090" y="4572000"/>
            <a:ext cx="6461662" cy="36576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427" name="Text 27"/>
          <p:cNvSpPr txBox="1"/>
          <p:nvPr/>
        </p:nvSpPr>
        <p:spPr>
          <a:xfrm>
            <a:off x="5309411" y="4607888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7428" name="Text 28"/>
          <p:cNvSpPr txBox="1"/>
          <p:nvPr/>
        </p:nvSpPr>
        <p:spPr>
          <a:xfrm>
            <a:off x="5676880" y="4622292"/>
            <a:ext cx="596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PREGO / TI-PREGO: Online Mistake Detection in PRocedural EGOcentric Videos</a:t>
            </a:r>
            <a:endParaRPr lang="en-US" sz="950" dirty="0"/>
          </a:p>
        </p:txBody>
      </p:sp>
      <p:sp>
        <p:nvSpPr>
          <p:cNvPr id="17429" name="Text 29"/>
          <p:cNvSpPr txBox="1"/>
          <p:nvPr/>
        </p:nvSpPr>
        <p:spPr>
          <a:xfrm>
            <a:off x="5676880" y="4773168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https://paperswithcode.com/task/mistake-detection</a:t>
            </a:r>
            <a:endParaRPr lang="en-US" sz="850" dirty="0"/>
          </a:p>
        </p:txBody>
      </p:sp>
      <p:sp>
        <p:nvSpPr>
          <p:cNvPr id="17430" name="Shape 25"/>
          <p:cNvSpPr/>
          <p:nvPr/>
        </p:nvSpPr>
        <p:spPr>
          <a:xfrm>
            <a:off x="5270090" y="4974336"/>
            <a:ext cx="6461662" cy="36576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432" name="Text 27"/>
          <p:cNvSpPr txBox="1"/>
          <p:nvPr/>
        </p:nvSpPr>
        <p:spPr>
          <a:xfrm>
            <a:off x="5309411" y="5010224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7433" name="Text 28"/>
          <p:cNvSpPr txBox="1"/>
          <p:nvPr/>
        </p:nvSpPr>
        <p:spPr>
          <a:xfrm>
            <a:off x="5676880" y="5024628"/>
            <a:ext cx="596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 in Egocentric Procedural Task Videos</a:t>
            </a:r>
            <a:endParaRPr lang="en-US" sz="950" dirty="0"/>
          </a:p>
        </p:txBody>
      </p:sp>
      <p:sp>
        <p:nvSpPr>
          <p:cNvPr id="17434" name="Text 29"/>
          <p:cNvSpPr txBox="1"/>
          <p:nvPr/>
        </p:nvSpPr>
        <p:spPr>
          <a:xfrm>
            <a:off x="5676880" y="5175504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2024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https://openaccess.thecvf.com/content/CVPR2024/papers/Lee_Error_Detection_…_CVPR_2024_paper.pdf</a:t>
            </a:r>
            <a:endParaRPr lang="en-US" sz="850" dirty="0"/>
          </a:p>
        </p:txBody>
      </p:sp>
      <p:sp>
        <p:nvSpPr>
          <p:cNvPr id="17435" name="Shape 25"/>
          <p:cNvSpPr/>
          <p:nvPr/>
        </p:nvSpPr>
        <p:spPr>
          <a:xfrm>
            <a:off x="5270090" y="5376672"/>
            <a:ext cx="6461662" cy="36576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437" name="Text 27"/>
          <p:cNvSpPr txBox="1"/>
          <p:nvPr/>
        </p:nvSpPr>
        <p:spPr>
          <a:xfrm>
            <a:off x="5309411" y="5412560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7438" name="Text 28"/>
          <p:cNvSpPr txBox="1"/>
          <p:nvPr/>
        </p:nvSpPr>
        <p:spPr>
          <a:xfrm>
            <a:off x="5676880" y="5426964"/>
            <a:ext cx="596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MistSense: Versatile Online Detection of Procedural and Execution Mistakes</a:t>
            </a:r>
            <a:endParaRPr lang="en-US" sz="950" dirty="0"/>
          </a:p>
        </p:txBody>
      </p:sp>
      <p:sp>
        <p:nvSpPr>
          <p:cNvPr id="17439" name="Text 29"/>
          <p:cNvSpPr txBox="1"/>
          <p:nvPr/>
        </p:nvSpPr>
        <p:spPr>
          <a:xfrm>
            <a:off x="5676880" y="5577840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2025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https://openaccess.thecvf.com/content/ICCV2025/papers/Patsch_MistSense_…_ICCV_2025_paper.pdf</a:t>
            </a:r>
            <a:endParaRPr lang="en-US" sz="850" dirty="0"/>
          </a:p>
        </p:txBody>
      </p:sp>
      <p:sp>
        <p:nvSpPr>
          <p:cNvPr id="17440" name="Shape 25"/>
          <p:cNvSpPr/>
          <p:nvPr/>
        </p:nvSpPr>
        <p:spPr>
          <a:xfrm>
            <a:off x="5270090" y="5779008"/>
            <a:ext cx="6461662" cy="36576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442" name="Text 27"/>
          <p:cNvSpPr txBox="1"/>
          <p:nvPr/>
        </p:nvSpPr>
        <p:spPr>
          <a:xfrm>
            <a:off x="5309411" y="5814896"/>
            <a:ext cx="308733" cy="31020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7443" name="Text 28"/>
          <p:cNvSpPr txBox="1"/>
          <p:nvPr/>
        </p:nvSpPr>
        <p:spPr>
          <a:xfrm>
            <a:off x="5676880" y="5829300"/>
            <a:ext cx="596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AXG-Reasoner: Error Detection and Explanation in Long Task Videos</a:t>
            </a:r>
            <a:endParaRPr lang="en-US" sz="950" dirty="0"/>
          </a:p>
        </p:txBody>
      </p:sp>
      <p:sp>
        <p:nvSpPr>
          <p:cNvPr id="17444" name="Text 29"/>
          <p:cNvSpPr txBox="1"/>
          <p:nvPr/>
        </p:nvSpPr>
        <p:spPr>
          <a:xfrm>
            <a:off x="5676880" y="5980176"/>
            <a:ext cx="5963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2026   —   </a:t>
            </a:r>
            <a:r>
              <a:rPr lang="en-US" sz="8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https://openaccess.thecvf.com/content/CVPR2026/papers/Lee_AXG-Reasoner_…_CVPR_2026_paper.pdf</a:t>
            </a:r>
            <a:endParaRPr lang="en-US" sz="850" dirty="0"/>
          </a:p>
        </p:txBody>
      </p:sp>
      <p:sp>
        <p:nvSpPr>
          <p:cNvPr id="17445" name="TextBox 17444"/>
          <p:cNvSpPr txBox="1"/>
          <p:nvPr/>
        </p:nvSpPr>
        <p:spPr>
          <a:xfrm>
            <a:off x="457200" y="11887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 spc="50">
                <a:solidFill>
                  <a:srgbClr val="0B1F3A"/>
                </a:solidFill>
                <a:latin typeface="Calibri"/>
              </a:rPr>
              <a:t>SAMPLE UI DEVELOPED BY THE TEAM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0A1662-5C2A-5055-660F-AE048FC1BF7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7076" y="3871107"/>
            <a:ext cx="4348932" cy="23070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560E08-D978-B4DC-7EE6-54D596392E0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2455" y="1522975"/>
            <a:ext cx="4348932" cy="231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9824</TotalTime>
  <Words>1611</Words>
  <Application>Microsoft Office PowerPoint</Application>
  <PresentationFormat>Widescreen</PresentationFormat>
  <Paragraphs>242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ANURAG PUTHIYAVEETIL OTHAYOTH</cp:lastModifiedBy>
  <cp:revision>167</cp:revision>
  <dcterms:created xsi:type="dcterms:W3CDTF">2013-12-12T18:46:50Z</dcterms:created>
  <dcterms:modified xsi:type="dcterms:W3CDTF">2026-09-20T12:16:42Z</dcterms:modified>
  <cp:category/>
</cp:coreProperties>
</file>